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2"/>
    <p:sldId id="260" r:id="rId3"/>
    <p:sldId id="261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4"/>
  </p:normalViewPr>
  <p:slideViewPr>
    <p:cSldViewPr snapToGrid="0">
      <p:cViewPr varScale="1">
        <p:scale>
          <a:sx n="96" d="100"/>
          <a:sy n="96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804651-D83C-6654-12CD-A4979491F205}"/>
              </a:ext>
            </a:extLst>
          </p:cNvPr>
          <p:cNvSpPr txBox="1"/>
          <p:nvPr/>
        </p:nvSpPr>
        <p:spPr>
          <a:xfrm>
            <a:off x="2352261" y="982176"/>
            <a:ext cx="748747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Functionele</a:t>
            </a:r>
            <a:r>
              <a:rPr lang="en-GB" sz="2400" b="0" i="0" dirty="0">
                <a:effectLst/>
                <a:latin typeface="fkGrotesk"/>
              </a:rPr>
              <a:t> requirements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fkGrotesk"/>
              </a:rPr>
              <a:t>Repositories &amp; </a:t>
            </a:r>
            <a:r>
              <a:rPr lang="en-GB" sz="2400" b="0" i="0" dirty="0" err="1">
                <a:effectLst/>
                <a:latin typeface="fkGrotesk"/>
              </a:rPr>
              <a:t>samenwerking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Publicatie</a:t>
            </a:r>
            <a:r>
              <a:rPr lang="en-GB" sz="2400" b="0" i="0" dirty="0">
                <a:effectLst/>
                <a:latin typeface="fkGrotesk"/>
              </a:rPr>
              <a:t> van </a:t>
            </a:r>
            <a:r>
              <a:rPr lang="en-GB" sz="2400" b="0" i="0" dirty="0" err="1">
                <a:effectLst/>
                <a:latin typeface="fkGrotesk"/>
              </a:rPr>
              <a:t>statische</a:t>
            </a:r>
            <a:r>
              <a:rPr lang="en-GB" sz="2400" b="0" i="0" dirty="0">
                <a:effectLst/>
                <a:latin typeface="fkGrotesk"/>
              </a:rPr>
              <a:t> websites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Automatische</a:t>
            </a:r>
            <a:r>
              <a:rPr lang="en-GB" sz="2400" b="0" i="0" dirty="0">
                <a:effectLst/>
                <a:latin typeface="fkGrotesk"/>
              </a:rPr>
              <a:t> build &amp; deploy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fkGrotesk"/>
              </a:rPr>
              <a:t>CI/CD &amp; workflow-</a:t>
            </a:r>
            <a:r>
              <a:rPr lang="en-GB" sz="2400" b="0" i="0" dirty="0" err="1">
                <a:effectLst/>
                <a:latin typeface="fkGrotesk"/>
              </a:rPr>
              <a:t>automatisering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fkGrotesk"/>
              </a:rPr>
              <a:t>Open science, </a:t>
            </a:r>
            <a:r>
              <a:rPr lang="en-GB" sz="2400" b="0" i="0" dirty="0" err="1">
                <a:effectLst/>
                <a:latin typeface="fkGrotesk"/>
              </a:rPr>
              <a:t>publicatie</a:t>
            </a:r>
            <a:r>
              <a:rPr lang="en-GB" sz="2400" b="0" i="0" dirty="0">
                <a:effectLst/>
                <a:latin typeface="fkGrotesk"/>
              </a:rPr>
              <a:t> &amp; </a:t>
            </a:r>
            <a:r>
              <a:rPr lang="en-GB" sz="2400" b="0" i="0" dirty="0" err="1">
                <a:effectLst/>
                <a:latin typeface="fkGrotesk"/>
              </a:rPr>
              <a:t>archivering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Integraties</a:t>
            </a:r>
            <a:r>
              <a:rPr lang="en-GB" sz="2400" b="0" i="0" dirty="0">
                <a:effectLst/>
                <a:latin typeface="fkGrotesk"/>
              </a:rPr>
              <a:t> &amp; </a:t>
            </a:r>
            <a:r>
              <a:rPr lang="en-GB" sz="2400" b="0" i="0" dirty="0" err="1">
                <a:effectLst/>
                <a:latin typeface="fkGrotesk"/>
              </a:rPr>
              <a:t>ecosysteem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Niet-functionele</a:t>
            </a:r>
            <a:r>
              <a:rPr lang="en-GB" sz="2400" b="0" i="0" dirty="0">
                <a:effectLst/>
                <a:latin typeface="fkGrotesk"/>
              </a:rPr>
              <a:t> requirements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Gebruiksvriendelijkheid</a:t>
            </a:r>
            <a:r>
              <a:rPr lang="en-GB" sz="2400" b="0" i="0" dirty="0">
                <a:effectLst/>
                <a:latin typeface="fkGrotesk"/>
              </a:rPr>
              <a:t> &amp; developer experience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Betrouwbaarheid</a:t>
            </a:r>
            <a:r>
              <a:rPr lang="en-GB" sz="2400" b="0" i="0" dirty="0">
                <a:effectLst/>
                <a:latin typeface="fkGrotesk"/>
              </a:rPr>
              <a:t> </a:t>
            </a:r>
            <a:r>
              <a:rPr lang="en-GB" sz="2400" b="0" i="0" dirty="0" err="1">
                <a:effectLst/>
                <a:latin typeface="fkGrotesk"/>
              </a:rPr>
              <a:t>en</a:t>
            </a:r>
            <a:r>
              <a:rPr lang="en-GB" sz="2400" b="0" i="0" dirty="0">
                <a:effectLst/>
                <a:latin typeface="fkGrotesk"/>
              </a:rPr>
              <a:t> </a:t>
            </a:r>
            <a:r>
              <a:rPr lang="en-GB" sz="2400" b="0" i="0" dirty="0" err="1">
                <a:effectLst/>
                <a:latin typeface="fkGrotesk"/>
              </a:rPr>
              <a:t>beschikbaarheid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Beheerlast</a:t>
            </a:r>
            <a:r>
              <a:rPr lang="en-GB" sz="2400" b="0" i="0" dirty="0">
                <a:effectLst/>
                <a:latin typeface="fkGrotesk"/>
              </a:rPr>
              <a:t> &amp; </a:t>
            </a:r>
            <a:r>
              <a:rPr lang="en-GB" sz="2400" b="0" i="0" dirty="0" err="1">
                <a:effectLst/>
                <a:latin typeface="fkGrotesk"/>
              </a:rPr>
              <a:t>organisatie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Schaalbaarheid</a:t>
            </a:r>
            <a:r>
              <a:rPr lang="en-GB" sz="2400" b="0" i="0" dirty="0">
                <a:effectLst/>
                <a:latin typeface="fkGrotesk"/>
              </a:rPr>
              <a:t> &amp; </a:t>
            </a:r>
            <a:r>
              <a:rPr lang="en-GB" sz="2400" b="0" i="0" dirty="0" err="1">
                <a:effectLst/>
                <a:latin typeface="fkGrotesk"/>
              </a:rPr>
              <a:t>prestaties</a:t>
            </a:r>
            <a:endParaRPr lang="en-GB" sz="2400" b="0" i="0" dirty="0">
              <a:effectLst/>
              <a:latin typeface="fkGrotesk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effectLst/>
                <a:latin typeface="fkGrotesk"/>
              </a:rPr>
              <a:t>Architectuurkeuze</a:t>
            </a:r>
            <a:r>
              <a:rPr lang="en-GB" sz="2400" b="0" i="0" dirty="0">
                <a:effectLst/>
                <a:latin typeface="fkGrotesk"/>
              </a:rPr>
              <a:t>: </a:t>
            </a:r>
            <a:r>
              <a:rPr lang="en-GB" sz="2400" b="0" i="0" dirty="0" err="1">
                <a:effectLst/>
                <a:latin typeface="fkGrotesk"/>
              </a:rPr>
              <a:t>cloudgehost</a:t>
            </a:r>
            <a:r>
              <a:rPr lang="en-GB" sz="2400" b="0" i="0" dirty="0">
                <a:effectLst/>
                <a:latin typeface="fkGrotesk"/>
              </a:rPr>
              <a:t> vs. </a:t>
            </a:r>
            <a:r>
              <a:rPr lang="en-GB" sz="2400" b="0" i="0" dirty="0" err="1">
                <a:effectLst/>
                <a:latin typeface="fkGrotesk"/>
              </a:rPr>
              <a:t>zelfbeheerd</a:t>
            </a:r>
            <a:endParaRPr lang="en-GB" sz="2400" b="0" i="0" dirty="0">
              <a:effectLst/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254824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19C1B-07B9-4C7B-B3F6-78131C30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D743FE-5401-4EF8-D0EA-3C97A2A8716D}"/>
              </a:ext>
            </a:extLst>
          </p:cNvPr>
          <p:cNvSpPr txBox="1"/>
          <p:nvPr/>
        </p:nvSpPr>
        <p:spPr>
          <a:xfrm>
            <a:off x="3048000" y="-26114923"/>
            <a:ext cx="6096000" cy="2183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900" b="1" dirty="0" err="1">
                <a:latin typeface="American Typewriter" panose="02090604020004020304" pitchFamily="18" charset="77"/>
              </a:rPr>
              <a:t>Requirementanalyse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CI/CD-platform</a:t>
            </a:r>
            <a:br>
              <a:rPr lang="en-GB" sz="900" dirty="0">
                <a:latin typeface="American Typewriter" panose="02090604020004020304" pitchFamily="18" charset="77"/>
              </a:rPr>
            </a:br>
            <a:r>
              <a:rPr lang="en-GB" sz="900" b="1" dirty="0" err="1">
                <a:latin typeface="American Typewriter" panose="02090604020004020304" pitchFamily="18" charset="77"/>
              </a:rPr>
              <a:t>voor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onderwijs</a:t>
            </a:r>
            <a:r>
              <a:rPr lang="en-GB" sz="900" b="1" dirty="0">
                <a:latin typeface="American Typewriter" panose="02090604020004020304" pitchFamily="18" charset="77"/>
              </a:rPr>
              <a:t>, </a:t>
            </a:r>
            <a:r>
              <a:rPr lang="en-GB" sz="900" b="1" dirty="0" err="1">
                <a:latin typeface="American Typewriter" panose="02090604020004020304" pitchFamily="18" charset="77"/>
              </a:rPr>
              <a:t>onderzoek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datagedreven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projecten</a:t>
            </a:r>
            <a:r>
              <a:rPr lang="en-GB" sz="900" b="1" dirty="0">
                <a:latin typeface="American Typewriter" panose="02090604020004020304" pitchFamily="18" charset="77"/>
              </a:rPr>
              <a:t> (2025)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1. Doel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context</a:t>
            </a:r>
          </a:p>
          <a:p>
            <a:pPr>
              <a:buNone/>
            </a:pPr>
            <a:r>
              <a:rPr lang="en-GB" sz="900" dirty="0" err="1">
                <a:latin typeface="American Typewriter" panose="02090604020004020304" pitchFamily="18" charset="77"/>
              </a:rPr>
              <a:t>Deze</a:t>
            </a:r>
            <a:r>
              <a:rPr lang="en-GB" sz="900" dirty="0">
                <a:latin typeface="American Typewriter" panose="02090604020004020304" pitchFamily="18" charset="77"/>
              </a:rPr>
              <a:t> analyse </a:t>
            </a:r>
            <a:r>
              <a:rPr lang="en-GB" sz="900" dirty="0" err="1">
                <a:latin typeface="American Typewriter" panose="02090604020004020304" pitchFamily="18" charset="77"/>
              </a:rPr>
              <a:t>beschrijft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functionele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niet-functionele</a:t>
            </a:r>
            <a:r>
              <a:rPr lang="en-GB" sz="900" dirty="0">
                <a:latin typeface="American Typewriter" panose="02090604020004020304" pitchFamily="18" charset="77"/>
              </a:rPr>
              <a:t> requirements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moderne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van code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onderzoeksdata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>
                <a:latin typeface="American Typewriter" panose="02090604020004020304" pitchFamily="18" charset="77"/>
              </a:rPr>
              <a:t>CI/CD-pipelines,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>
                <a:latin typeface="American Typewriter" panose="02090604020004020304" pitchFamily="18" charset="77"/>
              </a:rPr>
              <a:t>hosting van </a:t>
            </a:r>
            <a:r>
              <a:rPr lang="en-GB" sz="900" dirty="0" err="1">
                <a:latin typeface="American Typewriter" panose="02090604020004020304" pitchFamily="18" charset="77"/>
              </a:rPr>
              <a:t>eenvoudige</a:t>
            </a:r>
            <a:r>
              <a:rPr lang="en-GB" sz="900" dirty="0">
                <a:latin typeface="American Typewriter" panose="02090604020004020304" pitchFamily="18" charset="77"/>
              </a:rPr>
              <a:t> websites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cursus-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projectpagina’s</a:t>
            </a:r>
            <a:r>
              <a:rPr lang="en-GB" sz="900" dirty="0">
                <a:latin typeface="American Typewriter" panose="02090604020004020304" pitchFamily="18" charset="77"/>
              </a:rPr>
              <a:t>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van open science (</a:t>
            </a:r>
            <a:r>
              <a:rPr lang="en-GB" sz="900" dirty="0" err="1">
                <a:latin typeface="American Typewriter" panose="02090604020004020304" pitchFamily="18" charset="77"/>
              </a:rPr>
              <a:t>herbruikbare</a:t>
            </a:r>
            <a:r>
              <a:rPr lang="en-GB" sz="900" dirty="0">
                <a:latin typeface="American Typewriter" panose="02090604020004020304" pitchFamily="18" charset="77"/>
              </a:rPr>
              <a:t>, citable code).</a:t>
            </a: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 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 </a:t>
            </a:r>
            <a:r>
              <a:rPr lang="en-GB" sz="900" b="1" dirty="0" err="1">
                <a:latin typeface="American Typewriter" panose="02090604020004020304" pitchFamily="18" charset="77"/>
              </a:rPr>
              <a:t>Functionele</a:t>
            </a:r>
            <a:r>
              <a:rPr lang="en-GB" sz="900" b="1" dirty="0">
                <a:latin typeface="American Typewriter" panose="02090604020004020304" pitchFamily="18" charset="77"/>
              </a:rPr>
              <a:t> requirements</a:t>
            </a: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2.1 Repositories &amp; </a:t>
            </a:r>
            <a:r>
              <a:rPr lang="en-GB" sz="900" b="1" dirty="0" err="1">
                <a:latin typeface="American Typewriter" panose="02090604020004020304" pitchFamily="18" charset="77"/>
              </a:rPr>
              <a:t>samenwerking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Versiebeheer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distributed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ondersteunen</a:t>
            </a:r>
            <a:r>
              <a:rPr lang="en-GB" sz="900" dirty="0">
                <a:latin typeface="American Typewriter" panose="02090604020004020304" pitchFamily="18" charset="77"/>
              </a:rPr>
              <a:t> (Git-</a:t>
            </a:r>
            <a:r>
              <a:rPr lang="en-GB" sz="900" dirty="0" err="1">
                <a:latin typeface="American Typewriter" panose="02090604020004020304" pitchFamily="18" charset="77"/>
              </a:rPr>
              <a:t>compatibel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Moet </a:t>
            </a:r>
            <a:r>
              <a:rPr lang="en-GB" sz="900" dirty="0" err="1">
                <a:latin typeface="American Typewriter" panose="02090604020004020304" pitchFamily="18" charset="77"/>
              </a:rPr>
              <a:t>geschikte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bieden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zowel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kleine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als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monorepo’s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data pipelines).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Samenwerking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pull/merge requests, code-reviews, inline </a:t>
            </a:r>
            <a:r>
              <a:rPr lang="en-GB" sz="900" dirty="0" err="1">
                <a:latin typeface="American Typewriter" panose="02090604020004020304" pitchFamily="18" charset="77"/>
              </a:rPr>
              <a:t>opmerkingen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bescherming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hoofdbranches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Mogelijkheid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rechten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fijnmazig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stellen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onderzoekers</a:t>
            </a:r>
            <a:r>
              <a:rPr lang="en-GB" sz="900" dirty="0">
                <a:latin typeface="American Typewriter" panose="02090604020004020304" pitchFamily="18" charset="77"/>
              </a:rPr>
              <a:t>, externe partners).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2.2 </a:t>
            </a:r>
            <a:r>
              <a:rPr lang="en-GB" sz="900" b="1" dirty="0" err="1">
                <a:latin typeface="American Typewriter" panose="02090604020004020304" pitchFamily="18" charset="77"/>
              </a:rPr>
              <a:t>Publicatie</a:t>
            </a:r>
            <a:r>
              <a:rPr lang="en-GB" sz="900" b="1" dirty="0">
                <a:latin typeface="American Typewriter" panose="02090604020004020304" pitchFamily="18" charset="77"/>
              </a:rPr>
              <a:t> van </a:t>
            </a: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websites</a:t>
            </a:r>
          </a:p>
          <a:p>
            <a:pPr>
              <a:buFont typeface="+mj-lt"/>
              <a:buAutoNum type="arabicPeriod" startAt="3"/>
            </a:pPr>
            <a:r>
              <a:rPr lang="en-GB" sz="900" b="1" dirty="0" err="1">
                <a:latin typeface="American Typewriter" panose="02090604020004020304" pitchFamily="18" charset="77"/>
              </a:rPr>
              <a:t>Eenvoudige</a:t>
            </a:r>
            <a:r>
              <a:rPr lang="en-GB" sz="900" b="1" dirty="0">
                <a:latin typeface="American Typewriter" panose="02090604020004020304" pitchFamily="18" charset="77"/>
              </a:rPr>
              <a:t> hosting van </a:t>
            </a: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sites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zónder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complexe</a:t>
            </a:r>
            <a:r>
              <a:rPr lang="en-GB" sz="900" dirty="0">
                <a:latin typeface="American Typewriter" panose="02090604020004020304" pitchFamily="18" charset="77"/>
              </a:rPr>
              <a:t> CI-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statische</a:t>
            </a:r>
            <a:r>
              <a:rPr lang="en-GB" sz="900" dirty="0">
                <a:latin typeface="American Typewriter" panose="02090604020004020304" pitchFamily="18" charset="77"/>
              </a:rPr>
              <a:t> website </a:t>
            </a:r>
            <a:r>
              <a:rPr lang="en-GB" sz="900" dirty="0" err="1">
                <a:latin typeface="American Typewriter" panose="02090604020004020304" pitchFamily="18" charset="77"/>
              </a:rPr>
              <a:t>uit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repository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door in de UI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branch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map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kiezen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gevorderde</a:t>
            </a:r>
            <a:r>
              <a:rPr lang="en-GB" sz="900" dirty="0">
                <a:latin typeface="American Typewriter" panose="02090604020004020304" pitchFamily="18" charset="77"/>
              </a:rPr>
              <a:t> use-cases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het </a:t>
            </a:r>
            <a:r>
              <a:rPr lang="en-GB" sz="900" dirty="0" err="1">
                <a:latin typeface="American Typewriter" panose="02090604020004020304" pitchFamily="18" charset="77"/>
              </a:rPr>
              <a:t>wél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mogelijk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publicatie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pipeline (YAML </a:t>
            </a:r>
            <a:r>
              <a:rPr lang="en-GB" sz="900" dirty="0" err="1">
                <a:latin typeface="American Typewriter" panose="02090604020004020304" pitchFamily="18" charset="77"/>
              </a:rPr>
              <a:t>e.d.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automatiseren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3"/>
            </a:pPr>
            <a:r>
              <a:rPr lang="en-GB" sz="900" b="1" dirty="0" err="1">
                <a:latin typeface="American Typewriter" panose="02090604020004020304" pitchFamily="18" charset="77"/>
              </a:rPr>
              <a:t>Automatische</a:t>
            </a:r>
            <a:r>
              <a:rPr lang="en-GB" sz="900" b="1" dirty="0">
                <a:latin typeface="American Typewriter" panose="02090604020004020304" pitchFamily="18" charset="77"/>
              </a:rPr>
              <a:t> build &amp; deploy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>
                <a:latin typeface="American Typewriter" panose="02090604020004020304" pitchFamily="18" charset="77"/>
              </a:rPr>
              <a:t>Template-</a:t>
            </a: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stacks (HTML/CSS/JS, </a:t>
            </a:r>
            <a:r>
              <a:rPr lang="en-GB" sz="900" dirty="0" err="1">
                <a:latin typeface="American Typewriter" panose="02090604020004020304" pitchFamily="18" charset="77"/>
              </a:rPr>
              <a:t>standaard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documentatie-generatoren</a:t>
            </a:r>
            <a:r>
              <a:rPr lang="en-GB" sz="900" dirty="0">
                <a:latin typeface="American Typewriter" panose="02090604020004020304" pitchFamily="18" charset="77"/>
              </a:rPr>
              <a:t>) om de </a:t>
            </a:r>
            <a:r>
              <a:rPr lang="en-GB" sz="900" dirty="0" err="1">
                <a:latin typeface="American Typewriter" panose="02090604020004020304" pitchFamily="18" charset="77"/>
              </a:rPr>
              <a:t>drempel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verlagen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2.3 CI/CD &amp; workflow-</a:t>
            </a:r>
            <a:r>
              <a:rPr lang="en-GB" sz="900" b="1" dirty="0" err="1">
                <a:latin typeface="American Typewriter" panose="02090604020004020304" pitchFamily="18" charset="77"/>
              </a:rPr>
              <a:t>automatisering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5"/>
            </a:pPr>
            <a:r>
              <a:rPr lang="en-GB" sz="900" b="1" dirty="0">
                <a:latin typeface="American Typewriter" panose="02090604020004020304" pitchFamily="18" charset="77"/>
              </a:rPr>
              <a:t>CI/CD-templates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“</a:t>
            </a:r>
            <a:r>
              <a:rPr lang="en-GB" sz="900" b="1" dirty="0" err="1">
                <a:latin typeface="American Typewriter" panose="02090604020004020304" pitchFamily="18" charset="77"/>
              </a:rPr>
              <a:t>marktplaats</a:t>
            </a:r>
            <a:r>
              <a:rPr lang="en-GB" sz="900" b="1" dirty="0">
                <a:latin typeface="American Typewriter" panose="02090604020004020304" pitchFamily="18" charset="77"/>
              </a:rPr>
              <a:t>”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ruime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collectie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herbruikbare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bouwstenen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CI/CD </a:t>
            </a:r>
            <a:r>
              <a:rPr lang="en-GB" sz="900" dirty="0" err="1">
                <a:latin typeface="American Typewriter" panose="02090604020004020304" pitchFamily="18" charset="77"/>
              </a:rPr>
              <a:t>bieden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testen</a:t>
            </a:r>
            <a:r>
              <a:rPr lang="en-GB" sz="900" dirty="0">
                <a:latin typeface="American Typewriter" panose="02090604020004020304" pitchFamily="18" charset="77"/>
              </a:rPr>
              <a:t>, linters, security-scans, build &amp; deploy).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minimale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standaardpipeline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activeren</a:t>
            </a:r>
            <a:r>
              <a:rPr lang="en-GB" sz="900" dirty="0">
                <a:latin typeface="American Typewriter" panose="02090604020004020304" pitchFamily="18" charset="77"/>
              </a:rPr>
              <a:t> op basis van templates of “plug-and-play”-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naast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mogelijkheid</a:t>
            </a:r>
            <a:r>
              <a:rPr lang="en-GB" sz="900" dirty="0">
                <a:latin typeface="American Typewriter" panose="02090604020004020304" pitchFamily="18" charset="77"/>
              </a:rPr>
              <a:t> om eigen scripts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schrijven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5"/>
            </a:pPr>
            <a:r>
              <a:rPr lang="en-GB" sz="900" b="1" dirty="0" err="1">
                <a:latin typeface="American Typewriter" panose="02090604020004020304" pitchFamily="18" charset="77"/>
              </a:rPr>
              <a:t>Schaling</a:t>
            </a:r>
            <a:r>
              <a:rPr lang="en-GB" sz="900" b="1" dirty="0">
                <a:latin typeface="American Typewriter" panose="02090604020004020304" pitchFamily="18" charset="77"/>
              </a:rPr>
              <a:t> &amp; minutes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voldoende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capaciteit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onderzoeksgebruik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pieken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deadlines).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Heldere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limieten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bijkoop</a:t>
            </a:r>
            <a:r>
              <a:rPr lang="en-GB" sz="900" dirty="0">
                <a:latin typeface="American Typewriter" panose="02090604020004020304" pitchFamily="18" charset="77"/>
              </a:rPr>
              <a:t> van extra compute- of pipeline-</a:t>
            </a:r>
            <a:r>
              <a:rPr lang="en-GB" sz="900" dirty="0" err="1">
                <a:latin typeface="American Typewriter" panose="02090604020004020304" pitchFamily="18" charset="77"/>
              </a:rPr>
              <a:t>minuten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2.4 Open science, </a:t>
            </a:r>
            <a:r>
              <a:rPr lang="en-GB" sz="900" b="1" dirty="0" err="1">
                <a:latin typeface="American Typewriter" panose="02090604020004020304" pitchFamily="18" charset="77"/>
              </a:rPr>
              <a:t>publicatie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archivering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7"/>
            </a:pPr>
            <a:r>
              <a:rPr lang="en-GB" sz="900" b="1" dirty="0" err="1">
                <a:latin typeface="American Typewriter" panose="02090604020004020304" pitchFamily="18" charset="77"/>
              </a:rPr>
              <a:t>Koppelvlak</a:t>
            </a:r>
            <a:r>
              <a:rPr lang="en-GB" sz="900" b="1" dirty="0">
                <a:latin typeface="American Typewriter" panose="02090604020004020304" pitchFamily="18" charset="77"/>
              </a:rPr>
              <a:t> met open-science repositories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koppelen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externe </a:t>
            </a:r>
            <a:r>
              <a:rPr lang="en-GB" sz="900" dirty="0" err="1">
                <a:latin typeface="American Typewriter" panose="02090604020004020304" pitchFamily="18" charset="77"/>
              </a:rPr>
              <a:t>onderzoeksrepository</a:t>
            </a:r>
            <a:r>
              <a:rPr lang="en-GB" sz="900" dirty="0">
                <a:latin typeface="American Typewriter" panose="02090604020004020304" pitchFamily="18" charset="77"/>
              </a:rPr>
              <a:t> die </a:t>
            </a:r>
            <a:r>
              <a:rPr lang="en-GB" sz="900" b="1" dirty="0">
                <a:latin typeface="American Typewriter" panose="02090604020004020304" pitchFamily="18" charset="77"/>
              </a:rPr>
              <a:t>DOI’s (Digital Object Identifiers)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uitgeven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Bij het </a:t>
            </a:r>
            <a:r>
              <a:rPr lang="en-GB" sz="900" dirty="0" err="1">
                <a:latin typeface="American Typewriter" panose="02090604020004020304" pitchFamily="18" charset="77"/>
              </a:rPr>
              <a:t>maken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“release” van code of data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automatisch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versie</a:t>
            </a:r>
            <a:r>
              <a:rPr lang="en-GB" sz="900" dirty="0">
                <a:latin typeface="American Typewriter" panose="02090604020004020304" pitchFamily="18" charset="77"/>
              </a:rPr>
              <a:t> met DOI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vastgelegd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zodat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publicaties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wetenschappelijke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tijdschriften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verwijzen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naar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stabiel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archief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7"/>
            </a:pPr>
            <a:r>
              <a:rPr lang="en-GB" sz="900" b="1" dirty="0" err="1">
                <a:latin typeface="American Typewriter" panose="02090604020004020304" pitchFamily="18" charset="77"/>
              </a:rPr>
              <a:t>Langetermijnarchivering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Export van repositories (code + metadata) </a:t>
            </a:r>
            <a:r>
              <a:rPr lang="en-GB" sz="900" dirty="0" err="1">
                <a:latin typeface="American Typewriter" panose="02090604020004020304" pitchFamily="18" charset="77"/>
              </a:rPr>
              <a:t>naar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archiefsystemen</a:t>
            </a:r>
            <a:r>
              <a:rPr lang="en-GB" sz="900" dirty="0">
                <a:latin typeface="American Typewriter" panose="02090604020004020304" pitchFamily="18" charset="77"/>
              </a:rPr>
              <a:t> van de </a:t>
            </a:r>
            <a:r>
              <a:rPr lang="en-GB" sz="900" dirty="0" err="1">
                <a:latin typeface="American Typewriter" panose="02090604020004020304" pitchFamily="18" charset="77"/>
              </a:rPr>
              <a:t>instelling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mogelijk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Metadata (auteurs, </a:t>
            </a:r>
            <a:r>
              <a:rPr lang="en-GB" sz="900" dirty="0" err="1">
                <a:latin typeface="American Typewriter" panose="02090604020004020304" pitchFamily="18" charset="77"/>
              </a:rPr>
              <a:t>versies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licenties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machine-</a:t>
            </a:r>
            <a:r>
              <a:rPr lang="en-GB" sz="900" dirty="0" err="1">
                <a:latin typeface="American Typewriter" panose="02090604020004020304" pitchFamily="18" charset="77"/>
              </a:rPr>
              <a:t>leesbaar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indexering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citatie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2.5 </a:t>
            </a:r>
            <a:r>
              <a:rPr lang="en-GB" sz="900" b="1" dirty="0" err="1">
                <a:latin typeface="American Typewriter" panose="02090604020004020304" pitchFamily="18" charset="77"/>
              </a:rPr>
              <a:t>Integraties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ecosysteem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9"/>
            </a:pPr>
            <a:r>
              <a:rPr lang="en-GB" sz="900" b="1" dirty="0" err="1">
                <a:latin typeface="American Typewriter" panose="02090604020004020304" pitchFamily="18" charset="77"/>
              </a:rPr>
              <a:t>Integraties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 err="1">
                <a:latin typeface="American Typewriter" panose="02090604020004020304" pitchFamily="18" charset="77"/>
              </a:rPr>
              <a:t>Beschikbare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integraties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ontwikkeltools</a:t>
            </a:r>
            <a:r>
              <a:rPr lang="en-GB" sz="900" dirty="0">
                <a:latin typeface="American Typewriter" panose="02090604020004020304" pitchFamily="18" charset="77"/>
              </a:rPr>
              <a:t>, issue-trackers, identity-providers (SSO),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data-</a:t>
            </a:r>
            <a:r>
              <a:rPr lang="en-GB" sz="900" dirty="0" err="1">
                <a:latin typeface="American Typewriter" panose="02090604020004020304" pitchFamily="18" charset="77"/>
              </a:rPr>
              <a:t>platformen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cloud-</a:t>
            </a:r>
            <a:r>
              <a:rPr lang="en-GB" sz="900" dirty="0" err="1">
                <a:latin typeface="American Typewriter" panose="02090604020004020304" pitchFamily="18" charset="77"/>
              </a:rPr>
              <a:t>opslag</a:t>
            </a:r>
            <a:r>
              <a:rPr lang="en-GB" sz="900" dirty="0">
                <a:latin typeface="American Typewriter" panose="02090604020004020304" pitchFamily="18" charset="77"/>
              </a:rPr>
              <a:t>, data-warehouses).</a:t>
            </a: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>
                <a:latin typeface="American Typewriter" panose="02090604020004020304" pitchFamily="18" charset="77"/>
              </a:rPr>
              <a:t>API’s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webhooks om </a:t>
            </a:r>
            <a:r>
              <a:rPr lang="en-GB" sz="900" dirty="0" err="1">
                <a:latin typeface="American Typewriter" panose="02090604020004020304" pitchFamily="18" charset="77"/>
              </a:rPr>
              <a:t>maatwerk-integraties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bouwen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bijvoorbeeld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onderzoeksadministratie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>
              <a:buFont typeface="+mj-lt"/>
              <a:buAutoNum type="arabicPeriod" startAt="9"/>
            </a:pPr>
            <a:r>
              <a:rPr lang="en-GB" sz="900" b="1" dirty="0" err="1">
                <a:latin typeface="American Typewriter" panose="02090604020004020304" pitchFamily="18" charset="77"/>
              </a:rPr>
              <a:t>Ecosysteem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 err="1">
                <a:latin typeface="American Typewriter" panose="02090604020004020304" pitchFamily="18" charset="77"/>
              </a:rPr>
              <a:t>Beschikbaarheid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groot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ecosysteem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actieve</a:t>
            </a:r>
            <a:r>
              <a:rPr lang="en-GB" sz="900" dirty="0">
                <a:latin typeface="American Typewriter" panose="02090604020004020304" pitchFamily="18" charset="77"/>
              </a:rPr>
              <a:t> community, plugins, </a:t>
            </a:r>
            <a:r>
              <a:rPr lang="en-GB" sz="900" dirty="0" err="1">
                <a:latin typeface="American Typewriter" panose="02090604020004020304" pitchFamily="18" charset="77"/>
              </a:rPr>
              <a:t>voorbeeld</a:t>
            </a:r>
            <a:r>
              <a:rPr lang="en-GB" sz="900" dirty="0">
                <a:latin typeface="American Typewriter" panose="02090604020004020304" pitchFamily="18" charset="77"/>
              </a:rPr>
              <a:t>-workflows) om het </a:t>
            </a:r>
            <a:r>
              <a:rPr lang="en-GB" sz="900" dirty="0" err="1">
                <a:latin typeface="American Typewriter" panose="02090604020004020304" pitchFamily="18" charset="77"/>
              </a:rPr>
              <a:t>opzetten</a:t>
            </a:r>
            <a:r>
              <a:rPr lang="en-GB" sz="900" dirty="0">
                <a:latin typeface="American Typewriter" panose="02090604020004020304" pitchFamily="18" charset="77"/>
              </a:rPr>
              <a:t> van pipelines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onderwijsvoorbeelden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versnellen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 </a:t>
            </a:r>
            <a:r>
              <a:rPr lang="en-GB" sz="900" b="1" dirty="0" err="1">
                <a:latin typeface="American Typewriter" panose="02090604020004020304" pitchFamily="18" charset="77"/>
              </a:rPr>
              <a:t>Niet-functionele</a:t>
            </a:r>
            <a:r>
              <a:rPr lang="en-GB" sz="900" b="1" dirty="0">
                <a:latin typeface="American Typewriter" panose="02090604020004020304" pitchFamily="18" charset="77"/>
              </a:rPr>
              <a:t> requirements</a:t>
            </a: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3.1 </a:t>
            </a:r>
            <a:r>
              <a:rPr lang="en-GB" sz="900" b="1" dirty="0" err="1">
                <a:latin typeface="American Typewriter" panose="02090604020004020304" pitchFamily="18" charset="77"/>
              </a:rPr>
              <a:t>Gebruiksvriendelijkheid</a:t>
            </a:r>
            <a:r>
              <a:rPr lang="en-GB" sz="900" b="1" dirty="0">
                <a:latin typeface="American Typewriter" panose="02090604020004020304" pitchFamily="18" charset="77"/>
              </a:rPr>
              <a:t> &amp; developer experience</a:t>
            </a:r>
          </a:p>
          <a:p>
            <a:pPr>
              <a:buFont typeface="+mj-lt"/>
              <a:buAutoNum type="arabicPeriod" startAt="11"/>
            </a:pPr>
            <a:r>
              <a:rPr lang="en-GB" sz="900" b="1" dirty="0" err="1">
                <a:latin typeface="American Typewriter" panose="02090604020004020304" pitchFamily="18" charset="77"/>
              </a:rPr>
              <a:t>Intuïtieve</a:t>
            </a:r>
            <a:r>
              <a:rPr lang="en-GB" sz="900" b="1" dirty="0">
                <a:latin typeface="American Typewriter" panose="02090604020004020304" pitchFamily="18" charset="77"/>
              </a:rPr>
              <a:t> UI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gebruikersinterface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overzichtelijk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eerste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kennismaking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),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onderzoekers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>
                <a:latin typeface="American Typewriter" panose="02090604020004020304" pitchFamily="18" charset="77"/>
              </a:rPr>
              <a:t>DevOps-</a:t>
            </a:r>
            <a:r>
              <a:rPr lang="en-GB" sz="900" dirty="0" err="1">
                <a:latin typeface="American Typewriter" panose="02090604020004020304" pitchFamily="18" charset="77"/>
              </a:rPr>
              <a:t>specialisten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functies</a:t>
            </a:r>
            <a:r>
              <a:rPr lang="en-GB" sz="900" dirty="0">
                <a:latin typeface="American Typewriter" panose="02090604020004020304" pitchFamily="18" charset="77"/>
              </a:rPr>
              <a:t> (repository </a:t>
            </a:r>
            <a:r>
              <a:rPr lang="en-GB" sz="900" dirty="0" err="1">
                <a:latin typeface="American Typewriter" panose="02090604020004020304" pitchFamily="18" charset="77"/>
              </a:rPr>
              <a:t>aanmaken</a:t>
            </a:r>
            <a:r>
              <a:rPr lang="en-GB" sz="900" dirty="0">
                <a:latin typeface="American Typewriter" panose="02090604020004020304" pitchFamily="18" charset="77"/>
              </a:rPr>
              <a:t>, website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, pipeline </a:t>
            </a:r>
            <a:r>
              <a:rPr lang="en-GB" sz="900" dirty="0" err="1">
                <a:latin typeface="American Typewriter" panose="02090604020004020304" pitchFamily="18" charset="77"/>
              </a:rPr>
              <a:t>starten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handleiding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vinden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1"/>
            </a:pPr>
            <a:r>
              <a:rPr lang="en-GB" sz="900" b="1" dirty="0">
                <a:latin typeface="American Typewriter" panose="02090604020004020304" pitchFamily="18" charset="77"/>
              </a:rPr>
              <a:t>Onboarding &amp; </a:t>
            </a:r>
            <a:r>
              <a:rPr lang="en-GB" sz="900" b="1" dirty="0" err="1">
                <a:latin typeface="American Typewriter" panose="02090604020004020304" pitchFamily="18" charset="77"/>
              </a:rPr>
              <a:t>documentatie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Duidelijke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documentatie</a:t>
            </a:r>
            <a:r>
              <a:rPr lang="en-GB" sz="900" dirty="0">
                <a:latin typeface="American Typewriter" panose="02090604020004020304" pitchFamily="18" charset="77"/>
              </a:rPr>
              <a:t>, tutorials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voorbeeldprojecten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-scenario’s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klasbrede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oefenopdrachten</a:t>
            </a:r>
            <a:r>
              <a:rPr lang="en-GB" sz="900" dirty="0">
                <a:latin typeface="American Typewriter" panose="02090604020004020304" pitchFamily="18" charset="77"/>
              </a:rPr>
              <a:t>, templates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minoren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3.2 </a:t>
            </a:r>
            <a:r>
              <a:rPr lang="en-GB" sz="900" b="1" dirty="0" err="1">
                <a:latin typeface="American Typewriter" panose="02090604020004020304" pitchFamily="18" charset="77"/>
              </a:rPr>
              <a:t>Betrouwbaarheid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beschikbaarheid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3"/>
            </a:pPr>
            <a:r>
              <a:rPr lang="en-GB" sz="900" b="1" dirty="0" err="1">
                <a:latin typeface="American Typewriter" panose="02090604020004020304" pitchFamily="18" charset="77"/>
              </a:rPr>
              <a:t>Beschikbaarheid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dirty="0">
                <a:latin typeface="American Typewriter" panose="02090604020004020304" pitchFamily="18" charset="77"/>
              </a:rPr>
              <a:t> variant: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SLA van </a:t>
            </a:r>
            <a:r>
              <a:rPr lang="en-GB" sz="900" dirty="0" err="1">
                <a:latin typeface="American Typewriter" panose="02090604020004020304" pitchFamily="18" charset="77"/>
              </a:rPr>
              <a:t>minimaal</a:t>
            </a:r>
            <a:r>
              <a:rPr lang="en-GB" sz="900" dirty="0">
                <a:latin typeface="American Typewriter" panose="02090604020004020304" pitchFamily="18" charset="77"/>
              </a:rPr>
              <a:t> 99,9% uptime, met </a:t>
            </a:r>
            <a:r>
              <a:rPr lang="en-GB" sz="900" dirty="0" err="1">
                <a:latin typeface="American Typewriter" panose="02090604020004020304" pitchFamily="18" charset="77"/>
              </a:rPr>
              <a:t>wereldwijde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beschikbaarheid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content delivery </a:t>
            </a:r>
            <a:r>
              <a:rPr lang="en-GB" sz="900" dirty="0" err="1">
                <a:latin typeface="American Typewriter" panose="02090604020004020304" pitchFamily="18" charset="77"/>
              </a:rPr>
              <a:t>netwerk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dirty="0">
                <a:latin typeface="American Typewriter" panose="02090604020004020304" pitchFamily="18" charset="77"/>
              </a:rPr>
              <a:t> variant: monitoring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redundantie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ingericht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zodat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uitval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beperkt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blijft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onderhoud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gepland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3"/>
            </a:pPr>
            <a:r>
              <a:rPr lang="en-GB" sz="900" b="1" dirty="0">
                <a:latin typeface="American Typewriter" panose="02090604020004020304" pitchFamily="18" charset="77"/>
              </a:rPr>
              <a:t>Updates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beveiliging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 err="1">
                <a:latin typeface="American Typewriter" panose="02090604020004020304" pitchFamily="18" charset="77"/>
              </a:rPr>
              <a:t>Cloudvariant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  <a:r>
              <a:rPr lang="en-GB" sz="900" dirty="0" err="1">
                <a:latin typeface="American Typewriter" panose="02090604020004020304" pitchFamily="18" charset="77"/>
              </a:rPr>
              <a:t>automatische</a:t>
            </a:r>
            <a:r>
              <a:rPr lang="en-GB" sz="900" dirty="0">
                <a:latin typeface="American Typewriter" panose="02090604020004020304" pitchFamily="18" charset="77"/>
              </a:rPr>
              <a:t> updates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security-patches door de </a:t>
            </a:r>
            <a:r>
              <a:rPr lang="en-GB" sz="900" dirty="0" err="1">
                <a:latin typeface="American Typewriter" panose="02090604020004020304" pitchFamily="18" charset="77"/>
              </a:rPr>
              <a:t>leverancier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 err="1">
                <a:latin typeface="American Typewriter" panose="02090604020004020304" pitchFamily="18" charset="77"/>
              </a:rPr>
              <a:t>Zelfbeheerd</a:t>
            </a:r>
            <a:r>
              <a:rPr lang="en-GB" sz="900" dirty="0">
                <a:latin typeface="American Typewriter" panose="02090604020004020304" pitchFamily="18" charset="77"/>
              </a:rPr>
              <a:t>: de </a:t>
            </a:r>
            <a:r>
              <a:rPr lang="en-GB" sz="900" dirty="0" err="1">
                <a:latin typeface="American Typewriter" panose="02090604020004020304" pitchFamily="18" charset="77"/>
              </a:rPr>
              <a:t>instelling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zelf</a:t>
            </a:r>
            <a:r>
              <a:rPr lang="en-GB" sz="900" dirty="0">
                <a:latin typeface="American Typewriter" panose="02090604020004020304" pitchFamily="18" charset="77"/>
              </a:rPr>
              <a:t> (of via SURF/IT-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) patches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upgrades </a:t>
            </a:r>
            <a:r>
              <a:rPr lang="en-GB" sz="900" dirty="0" err="1">
                <a:latin typeface="American Typewriter" panose="02090604020004020304" pitchFamily="18" charset="77"/>
              </a:rPr>
              <a:t>plannen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uitvoeren</a:t>
            </a:r>
            <a:r>
              <a:rPr lang="en-GB" sz="900" dirty="0">
                <a:latin typeface="American Typewriter" panose="02090604020004020304" pitchFamily="18" charset="77"/>
              </a:rPr>
              <a:t>; </a:t>
            </a:r>
            <a:r>
              <a:rPr lang="en-GB" sz="900" dirty="0" err="1">
                <a:latin typeface="American Typewriter" panose="02090604020004020304" pitchFamily="18" charset="77"/>
              </a:rPr>
              <a:t>dit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vergt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structurele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beheer-capaciteit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3.3 </a:t>
            </a:r>
            <a:r>
              <a:rPr lang="en-GB" sz="900" b="1" dirty="0" err="1">
                <a:latin typeface="American Typewriter" panose="02090604020004020304" pitchFamily="18" charset="77"/>
              </a:rPr>
              <a:t>Beheerlast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organisatie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5"/>
            </a:pP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Geen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 door de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: hosting, </a:t>
            </a:r>
            <a:r>
              <a:rPr lang="en-GB" sz="900" dirty="0" err="1">
                <a:latin typeface="American Typewriter" panose="02090604020004020304" pitchFamily="18" charset="77"/>
              </a:rPr>
              <a:t>schaalbaarheid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patching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verantwoordelijkheid</a:t>
            </a:r>
            <a:r>
              <a:rPr lang="en-GB" sz="900" dirty="0">
                <a:latin typeface="American Typewriter" panose="02090604020004020304" pitchFamily="18" charset="77"/>
              </a:rPr>
              <a:t> van de </a:t>
            </a:r>
            <a:r>
              <a:rPr lang="en-GB" sz="900" dirty="0" err="1">
                <a:latin typeface="American Typewriter" panose="02090604020004020304" pitchFamily="18" charset="77"/>
              </a:rPr>
              <a:t>leverancier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Identity-</a:t>
            </a: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(SSO)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centraal</a:t>
            </a:r>
            <a:r>
              <a:rPr lang="en-GB" sz="900" dirty="0">
                <a:latin typeface="American Typewriter" panose="02090604020004020304" pitchFamily="18" charset="77"/>
              </a:rPr>
              <a:t> door de IT-</a:t>
            </a:r>
            <a:r>
              <a:rPr lang="en-GB" sz="900" dirty="0" err="1">
                <a:latin typeface="American Typewriter" panose="02090604020004020304" pitchFamily="18" charset="77"/>
              </a:rPr>
              <a:t>organisatie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ingericht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5"/>
            </a:pP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 err="1">
                <a:latin typeface="American Typewriter" panose="02090604020004020304" pitchFamily="18" charset="77"/>
              </a:rPr>
              <a:t>Vereist</a:t>
            </a:r>
            <a:r>
              <a:rPr lang="en-GB" sz="900" dirty="0">
                <a:latin typeface="American Typewriter" panose="02090604020004020304" pitchFamily="18" charset="77"/>
              </a:rPr>
              <a:t> eigen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 (servers, </a:t>
            </a:r>
            <a:r>
              <a:rPr lang="en-GB" sz="900" dirty="0" err="1">
                <a:latin typeface="American Typewriter" panose="02090604020004020304" pitchFamily="18" charset="77"/>
              </a:rPr>
              <a:t>opslag</a:t>
            </a:r>
            <a:r>
              <a:rPr lang="en-GB" sz="900" dirty="0">
                <a:latin typeface="American Typewriter" panose="02090604020004020304" pitchFamily="18" charset="77"/>
              </a:rPr>
              <a:t>, back-ups, monitoring).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 err="1">
                <a:latin typeface="American Typewriter" panose="02090604020004020304" pitchFamily="18" charset="77"/>
              </a:rPr>
              <a:t>Vereist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minimaal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deel</a:t>
            </a:r>
            <a:r>
              <a:rPr lang="en-GB" sz="900" dirty="0">
                <a:latin typeface="American Typewriter" panose="02090604020004020304" pitchFamily="18" charset="77"/>
              </a:rPr>
              <a:t>-FTE specialist (DevOps / </a:t>
            </a:r>
            <a:r>
              <a:rPr lang="en-GB" sz="900" dirty="0" err="1">
                <a:latin typeface="American Typewriter" panose="02090604020004020304" pitchFamily="18" charset="77"/>
              </a:rPr>
              <a:t>systeembeheer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onderhoud</a:t>
            </a:r>
            <a:r>
              <a:rPr lang="en-GB" sz="900" dirty="0">
                <a:latin typeface="American Typewriter" panose="02090604020004020304" pitchFamily="18" charset="77"/>
              </a:rPr>
              <a:t>, upgrades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incidentafhandeling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Risico’s: </a:t>
            </a:r>
            <a:r>
              <a:rPr lang="en-GB" sz="900" dirty="0" err="1">
                <a:latin typeface="American Typewriter" panose="02090604020004020304" pitchFamily="18" charset="77"/>
              </a:rPr>
              <a:t>achterblijvende</a:t>
            </a:r>
            <a:r>
              <a:rPr lang="en-GB" sz="900" dirty="0">
                <a:latin typeface="American Typewriter" panose="02090604020004020304" pitchFamily="18" charset="77"/>
              </a:rPr>
              <a:t> updates, </a:t>
            </a:r>
            <a:r>
              <a:rPr lang="en-GB" sz="900" dirty="0" err="1">
                <a:latin typeface="American Typewriter" panose="02090604020004020304" pitchFamily="18" charset="77"/>
              </a:rPr>
              <a:t>incidentele</a:t>
            </a:r>
            <a:r>
              <a:rPr lang="en-GB" sz="900" dirty="0">
                <a:latin typeface="American Typewriter" panose="02090604020004020304" pitchFamily="18" charset="77"/>
              </a:rPr>
              <a:t> performance-</a:t>
            </a:r>
            <a:r>
              <a:rPr lang="en-GB" sz="900" dirty="0" err="1">
                <a:latin typeface="American Typewriter" panose="02090604020004020304" pitchFamily="18" charset="77"/>
              </a:rPr>
              <a:t>problemen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tijdelijk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ontbreken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bepaalde</a:t>
            </a:r>
            <a:r>
              <a:rPr lang="en-GB" sz="900" dirty="0">
                <a:latin typeface="American Typewriter" panose="02090604020004020304" pitchFamily="18" charset="77"/>
              </a:rPr>
              <a:t> features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webhostingfunctionaliteit</a:t>
            </a:r>
            <a:r>
              <a:rPr lang="en-GB" sz="900" dirty="0">
                <a:latin typeface="American Typewriter" panose="02090604020004020304" pitchFamily="18" charset="77"/>
              </a:rPr>
              <a:t>) door </a:t>
            </a:r>
            <a:r>
              <a:rPr lang="en-GB" sz="900" dirty="0" err="1">
                <a:latin typeface="American Typewriter" panose="02090604020004020304" pitchFamily="18" charset="77"/>
              </a:rPr>
              <a:t>lokale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3.4 </a:t>
            </a:r>
            <a:r>
              <a:rPr lang="en-GB" sz="900" b="1" dirty="0" err="1">
                <a:latin typeface="American Typewriter" panose="02090604020004020304" pitchFamily="18" charset="77"/>
              </a:rPr>
              <a:t>Schaalbaarheid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prestaties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7"/>
            </a:pPr>
            <a:r>
              <a:rPr lang="en-GB" sz="900" b="1" dirty="0" err="1">
                <a:latin typeface="American Typewriter" panose="02090604020004020304" pitchFamily="18" charset="77"/>
              </a:rPr>
              <a:t>Schaalbaar</a:t>
            </a:r>
            <a:r>
              <a:rPr lang="en-GB" sz="900" b="1" dirty="0">
                <a:latin typeface="American Typewriter" panose="02090604020004020304" pitchFamily="18" charset="77"/>
              </a:rPr>
              <a:t> per </a:t>
            </a:r>
            <a:r>
              <a:rPr lang="en-GB" sz="900" b="1" dirty="0" err="1">
                <a:latin typeface="American Typewriter" panose="02090604020004020304" pitchFamily="18" charset="77"/>
              </a:rPr>
              <a:t>faculteit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hogeschoolbreed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7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merkbare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performanceproblemen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opschalen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kleine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projectteams</a:t>
            </a:r>
            <a:r>
              <a:rPr lang="en-GB" sz="900" dirty="0">
                <a:latin typeface="American Typewriter" panose="02090604020004020304" pitchFamily="18" charset="77"/>
              </a:rPr>
              <a:t> tot </a:t>
            </a:r>
            <a:r>
              <a:rPr lang="en-GB" sz="900" dirty="0" err="1">
                <a:latin typeface="American Typewriter" panose="02090604020004020304" pitchFamily="18" charset="77"/>
              </a:rPr>
              <a:t>honderden</a:t>
            </a:r>
            <a:r>
              <a:rPr lang="en-GB" sz="900" dirty="0">
                <a:latin typeface="American Typewriter" panose="02090604020004020304" pitchFamily="18" charset="77"/>
              </a:rPr>
              <a:t> of </a:t>
            </a:r>
            <a:r>
              <a:rPr lang="en-GB" sz="900" dirty="0" err="1">
                <a:latin typeface="American Typewriter" panose="02090604020004020304" pitchFamily="18" charset="77"/>
              </a:rPr>
              <a:t>duizenden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7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repositories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dataprojecten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monorepo’s</a:t>
            </a:r>
            <a:r>
              <a:rPr lang="en-GB" sz="900" dirty="0">
                <a:latin typeface="American Typewriter" panose="02090604020004020304" pitchFamily="18" charset="77"/>
              </a:rPr>
              <a:t> met data pipelines) is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expliciete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eis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4. </a:t>
            </a:r>
            <a:r>
              <a:rPr lang="en-GB" sz="900" b="1" dirty="0" err="1">
                <a:latin typeface="American Typewriter" panose="02090604020004020304" pitchFamily="18" charset="77"/>
              </a:rPr>
              <a:t>Architectuurkeuze</a:t>
            </a:r>
            <a:r>
              <a:rPr lang="en-GB" sz="900" b="1" dirty="0">
                <a:latin typeface="American Typewriter" panose="02090604020004020304" pitchFamily="18" charset="77"/>
              </a:rPr>
              <a:t>: </a:t>
            </a:r>
            <a:r>
              <a:rPr lang="en-GB" sz="900" b="1" dirty="0" err="1">
                <a:latin typeface="American Typewriter" panose="02090604020004020304" pitchFamily="18" charset="77"/>
              </a:rPr>
              <a:t>cloudgehost</a:t>
            </a:r>
            <a:r>
              <a:rPr lang="en-GB" sz="900" b="1" dirty="0">
                <a:latin typeface="American Typewriter" panose="02090604020004020304" pitchFamily="18" charset="77"/>
              </a:rPr>
              <a:t> vs. </a:t>
            </a:r>
            <a:r>
              <a:rPr lang="en-GB" sz="900" b="1" dirty="0" err="1">
                <a:latin typeface="American Typewriter" panose="02090604020004020304" pitchFamily="18" charset="77"/>
              </a:rPr>
              <a:t>zelfbeheerd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Op basis van </a:t>
            </a:r>
            <a:r>
              <a:rPr lang="en-GB" sz="900" dirty="0" err="1">
                <a:latin typeface="American Typewriter" panose="02090604020004020304" pitchFamily="18" charset="77"/>
              </a:rPr>
              <a:t>bovenstaande</a:t>
            </a:r>
            <a:r>
              <a:rPr lang="en-GB" sz="900" dirty="0">
                <a:latin typeface="American Typewriter" panose="02090604020004020304" pitchFamily="18" charset="77"/>
              </a:rPr>
              <a:t> requirements </a:t>
            </a:r>
            <a:r>
              <a:rPr lang="en-GB" sz="900" dirty="0" err="1">
                <a:latin typeface="American Typewriter" panose="02090604020004020304" pitchFamily="18" charset="77"/>
              </a:rPr>
              <a:t>tekenen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zich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lijnen</a:t>
            </a:r>
            <a:r>
              <a:rPr lang="en-GB" sz="900" dirty="0">
                <a:latin typeface="American Typewriter" panose="02090604020004020304" pitchFamily="18" charset="77"/>
              </a:rPr>
              <a:t> twee scenario’s </a:t>
            </a:r>
            <a:r>
              <a:rPr lang="en-GB" sz="900" dirty="0" err="1">
                <a:latin typeface="American Typewriter" panose="02090604020004020304" pitchFamily="18" charset="77"/>
              </a:rPr>
              <a:t>af</a:t>
            </a:r>
            <a:r>
              <a:rPr lang="en-GB" sz="900" dirty="0">
                <a:latin typeface="American Typewriter" panose="02090604020004020304" pitchFamily="18" charset="77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ontwikkel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Minder </a:t>
            </a:r>
            <a:r>
              <a:rPr lang="en-GB" sz="900" dirty="0" err="1">
                <a:latin typeface="American Typewriter" panose="02090604020004020304" pitchFamily="18" charset="77"/>
              </a:rPr>
              <a:t>beheerlast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Snelle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toegang</a:t>
            </a:r>
            <a:r>
              <a:rPr lang="en-GB" sz="900" dirty="0">
                <a:latin typeface="American Typewriter" panose="02090604020004020304" pitchFamily="18" charset="77"/>
              </a:rPr>
              <a:t> tot </a:t>
            </a:r>
            <a:r>
              <a:rPr lang="en-GB" sz="900" dirty="0" err="1">
                <a:latin typeface="American Typewriter" panose="02090604020004020304" pitchFamily="18" charset="77"/>
              </a:rPr>
              <a:t>nieuwe</a:t>
            </a:r>
            <a:r>
              <a:rPr lang="en-GB" sz="900" dirty="0">
                <a:latin typeface="American Typewriter" panose="02090604020004020304" pitchFamily="18" charset="77"/>
              </a:rPr>
              <a:t> features.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Vaak </a:t>
            </a:r>
            <a:r>
              <a:rPr lang="en-GB" sz="900" dirty="0" err="1">
                <a:latin typeface="American Typewriter" panose="02090604020004020304" pitchFamily="18" charset="77"/>
              </a:rPr>
              <a:t>meer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kant-en-klare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templates.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Aandachtspunten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Data-</a:t>
            </a:r>
            <a:r>
              <a:rPr lang="en-GB" sz="900" dirty="0" err="1">
                <a:latin typeface="American Typewriter" panose="02090604020004020304" pitchFamily="18" charset="77"/>
              </a:rPr>
              <a:t>residentie</a:t>
            </a:r>
            <a:r>
              <a:rPr lang="en-GB" sz="900" dirty="0">
                <a:latin typeface="American Typewriter" panose="02090604020004020304" pitchFamily="18" charset="77"/>
              </a:rPr>
              <a:t>, privacy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compliance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juridisch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technisch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getoetst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Vendor-lock-in </a:t>
            </a:r>
            <a:r>
              <a:rPr lang="en-GB" sz="900" dirty="0" err="1">
                <a:latin typeface="American Typewriter" panose="02090604020004020304" pitchFamily="18" charset="77"/>
              </a:rPr>
              <a:t>mitigeren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goede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exportmogelijkheden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b="1" dirty="0">
                <a:latin typeface="American Typewriter" panose="02090604020004020304" pitchFamily="18" charset="77"/>
              </a:rPr>
              <a:t> (on-premise of SURF-</a:t>
            </a:r>
            <a:r>
              <a:rPr lang="en-GB" sz="900" b="1" dirty="0" err="1">
                <a:latin typeface="American Typewriter" panose="02090604020004020304" pitchFamily="18" charset="77"/>
              </a:rPr>
              <a:t>gehoste</a:t>
            </a:r>
            <a:r>
              <a:rPr lang="en-GB" sz="900" b="1" dirty="0">
                <a:latin typeface="American Typewriter" panose="02090604020004020304" pitchFamily="18" charset="77"/>
              </a:rPr>
              <a:t>)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Volledige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controle</a:t>
            </a:r>
            <a:r>
              <a:rPr lang="en-GB" sz="900" dirty="0">
                <a:latin typeface="American Typewriter" panose="02090604020004020304" pitchFamily="18" charset="77"/>
              </a:rPr>
              <a:t> over data-</a:t>
            </a:r>
            <a:r>
              <a:rPr lang="en-GB" sz="900" dirty="0" err="1">
                <a:latin typeface="American Typewriter" panose="02090604020004020304" pitchFamily="18" charset="77"/>
              </a:rPr>
              <a:t>locatie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bestaande</a:t>
            </a:r>
            <a:r>
              <a:rPr lang="en-GB" sz="900" dirty="0">
                <a:latin typeface="American Typewriter" panose="02090604020004020304" pitchFamily="18" charset="77"/>
              </a:rPr>
              <a:t> on-premise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Aandachtspunten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Hogere</a:t>
            </a:r>
            <a:r>
              <a:rPr lang="en-GB" sz="900" dirty="0">
                <a:latin typeface="American Typewriter" panose="02090604020004020304" pitchFamily="18" charset="77"/>
              </a:rPr>
              <a:t> interne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infrastructuurkosten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Grotere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kans</a:t>
            </a:r>
            <a:r>
              <a:rPr lang="en-GB" sz="900" dirty="0">
                <a:latin typeface="American Typewriter" panose="02090604020004020304" pitchFamily="18" charset="77"/>
              </a:rPr>
              <a:t> op </a:t>
            </a:r>
            <a:r>
              <a:rPr lang="en-GB" sz="900" dirty="0" err="1">
                <a:latin typeface="American Typewriter" panose="02090604020004020304" pitchFamily="18" charset="77"/>
              </a:rPr>
              <a:t>achterstand</a:t>
            </a:r>
            <a:r>
              <a:rPr lang="en-GB" sz="900" dirty="0">
                <a:latin typeface="American Typewriter" panose="02090604020004020304" pitchFamily="18" charset="77"/>
              </a:rPr>
              <a:t> in features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updates.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 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 err="1">
                <a:latin typeface="American Typewriter" panose="02090604020004020304" pitchFamily="18" charset="77"/>
              </a:rPr>
              <a:t>Samenvattende</a:t>
            </a:r>
            <a:r>
              <a:rPr lang="en-GB" sz="900" b="1" dirty="0">
                <a:latin typeface="American Typewriter" panose="02090604020004020304" pitchFamily="18" charset="77"/>
              </a:rPr>
              <a:t> requirement-</a:t>
            </a:r>
            <a:r>
              <a:rPr lang="en-GB" sz="900" b="1" dirty="0" err="1">
                <a:latin typeface="American Typewriter" panose="02090604020004020304" pitchFamily="18" charset="77"/>
              </a:rPr>
              <a:t>conclusie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 die: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laagdrempelig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laten </a:t>
            </a:r>
            <a:r>
              <a:rPr lang="en-GB" sz="900" dirty="0" err="1">
                <a:latin typeface="American Typewriter" panose="02090604020004020304" pitchFamily="18" charset="77"/>
              </a:rPr>
              <a:t>werken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CI/CD,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sites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>
                <a:latin typeface="American Typewriter" panose="02090604020004020304" pitchFamily="18" charset="77"/>
              </a:rPr>
              <a:t>open-science</a:t>
            </a:r>
            <a:r>
              <a:rPr lang="en-GB" sz="900" dirty="0">
                <a:latin typeface="American Typewriter" panose="02090604020004020304" pitchFamily="18" charset="77"/>
              </a:rPr>
              <a:t>-</a:t>
            </a:r>
            <a:r>
              <a:rPr lang="en-GB" sz="900" dirty="0" err="1">
                <a:latin typeface="American Typewriter" panose="02090604020004020304" pitchFamily="18" charset="77"/>
              </a:rPr>
              <a:t>eisen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invullen</a:t>
            </a:r>
            <a:r>
              <a:rPr lang="en-GB" sz="900" dirty="0">
                <a:latin typeface="American Typewriter" panose="02090604020004020304" pitchFamily="18" charset="77"/>
              </a:rPr>
              <a:t> (citable code via DOI),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de interne </a:t>
            </a:r>
            <a:r>
              <a:rPr lang="en-GB" sz="900" dirty="0" err="1">
                <a:latin typeface="American Typewriter" panose="02090604020004020304" pitchFamily="18" charset="77"/>
              </a:rPr>
              <a:t>beheerlast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beperken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is in de </a:t>
            </a:r>
            <a:r>
              <a:rPr lang="en-GB" sz="900" dirty="0" err="1">
                <a:latin typeface="American Typewriter" panose="02090604020004020304" pitchFamily="18" charset="77"/>
              </a:rPr>
              <a:t>praktijk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ontwikkel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met: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UI/UX,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ecosysteem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aan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met DOI-</a:t>
            </a:r>
            <a:r>
              <a:rPr lang="en-GB" sz="900" dirty="0" err="1">
                <a:latin typeface="American Typewriter" panose="02090604020004020304" pitchFamily="18" charset="77"/>
              </a:rPr>
              <a:t>uitgevende</a:t>
            </a:r>
            <a:r>
              <a:rPr lang="en-GB" sz="900" dirty="0">
                <a:latin typeface="American Typewriter" panose="02090604020004020304" pitchFamily="18" charset="77"/>
              </a:rPr>
              <a:t> repositories</a:t>
            </a:r>
          </a:p>
          <a:p>
            <a:pPr>
              <a:buNone/>
            </a:pPr>
            <a:r>
              <a:rPr lang="en-GB" sz="900" dirty="0" err="1">
                <a:latin typeface="American Typewriter" panose="02090604020004020304" pitchFamily="18" charset="77"/>
              </a:rPr>
              <a:t>functioneel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financieel</a:t>
            </a:r>
            <a:r>
              <a:rPr lang="en-GB" sz="900" dirty="0">
                <a:latin typeface="American Typewriter" panose="02090604020004020304" pitchFamily="18" charset="77"/>
              </a:rPr>
              <a:t> het </a:t>
            </a:r>
            <a:r>
              <a:rPr lang="en-GB" sz="900" dirty="0" err="1">
                <a:latin typeface="American Typewriter" panose="02090604020004020304" pitchFamily="18" charset="77"/>
              </a:rPr>
              <a:t>meest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logisch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vertrekpunt</a:t>
            </a:r>
            <a:r>
              <a:rPr lang="en-GB" sz="900" dirty="0">
                <a:latin typeface="American Typewriter" panose="02090604020004020304" pitchFamily="18" charset="77"/>
              </a:rPr>
              <a:t>. Een </a:t>
            </a: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oplossing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blijft</a:t>
            </a:r>
            <a:r>
              <a:rPr lang="en-GB" sz="900" dirty="0">
                <a:latin typeface="American Typewriter" panose="02090604020004020304" pitchFamily="18" charset="77"/>
              </a:rPr>
              <a:t> relevant </a:t>
            </a:r>
            <a:r>
              <a:rPr lang="en-GB" sz="900" dirty="0" err="1">
                <a:latin typeface="American Typewriter" panose="02090604020004020304" pitchFamily="18" charset="77"/>
              </a:rPr>
              <a:t>als</a:t>
            </a:r>
            <a:r>
              <a:rPr lang="en-GB" sz="900" dirty="0">
                <a:latin typeface="American Typewriter" panose="02090604020004020304" pitchFamily="18" charset="77"/>
              </a:rPr>
              <a:t> er </a:t>
            </a:r>
            <a:r>
              <a:rPr lang="en-GB" sz="900" b="1" dirty="0" err="1">
                <a:latin typeface="American Typewriter" panose="02090604020004020304" pitchFamily="18" charset="77"/>
              </a:rPr>
              <a:t>harde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eisen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data-</a:t>
            </a:r>
            <a:r>
              <a:rPr lang="en-GB" sz="900" dirty="0" err="1">
                <a:latin typeface="American Typewriter" panose="02090604020004020304" pitchFamily="18" charset="77"/>
              </a:rPr>
              <a:t>locatie</a:t>
            </a:r>
            <a:r>
              <a:rPr lang="en-GB" sz="900" dirty="0">
                <a:latin typeface="American Typewriter" panose="02090604020004020304" pitchFamily="18" charset="77"/>
              </a:rPr>
              <a:t>, air-gapped </a:t>
            </a:r>
            <a:r>
              <a:rPr lang="en-GB" sz="900" dirty="0" err="1">
                <a:latin typeface="American Typewriter" panose="02090604020004020304" pitchFamily="18" charset="77"/>
              </a:rPr>
              <a:t>omgevingen</a:t>
            </a:r>
            <a:r>
              <a:rPr lang="en-GB" sz="900" dirty="0">
                <a:latin typeface="American Typewriter" panose="02090604020004020304" pitchFamily="18" charset="77"/>
              </a:rPr>
              <a:t> of </a:t>
            </a:r>
            <a:r>
              <a:rPr lang="en-GB" sz="900" dirty="0" err="1">
                <a:latin typeface="American Typewriter" panose="02090604020004020304" pitchFamily="18" charset="77"/>
              </a:rPr>
              <a:t>specifieke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integraties</a:t>
            </a:r>
            <a:r>
              <a:rPr lang="en-GB" sz="900" dirty="0">
                <a:latin typeface="American Typewriter" panose="02090604020004020304" pitchFamily="18" charset="77"/>
              </a:rPr>
              <a:t>, maar </a:t>
            </a:r>
            <a:r>
              <a:rPr lang="en-GB" sz="900" dirty="0" err="1">
                <a:latin typeface="American Typewriter" panose="02090604020004020304" pitchFamily="18" charset="77"/>
              </a:rPr>
              <a:t>vraagt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expliciete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keuzes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extra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-FTE’s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budget.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3A3301-C47E-9648-2863-BA963D09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6" y="407276"/>
            <a:ext cx="4693050" cy="60434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49DF49-DD2B-C2F1-1EA3-14EAC3D90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08" y="557048"/>
            <a:ext cx="5045429" cy="614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4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21C5-F197-DF82-EB52-24446931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815F-1790-5146-59A7-57A07A73CB2E}"/>
              </a:ext>
            </a:extLst>
          </p:cNvPr>
          <p:cNvSpPr txBox="1"/>
          <p:nvPr/>
        </p:nvSpPr>
        <p:spPr>
          <a:xfrm>
            <a:off x="3048000" y="-26114923"/>
            <a:ext cx="6096000" cy="2183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900" b="1" dirty="0" err="1">
                <a:latin typeface="American Typewriter" panose="02090604020004020304" pitchFamily="18" charset="77"/>
              </a:rPr>
              <a:t>Requirementanalyse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CI/CD-platform</a:t>
            </a:r>
            <a:br>
              <a:rPr lang="en-GB" sz="900" dirty="0">
                <a:latin typeface="American Typewriter" panose="02090604020004020304" pitchFamily="18" charset="77"/>
              </a:rPr>
            </a:br>
            <a:r>
              <a:rPr lang="en-GB" sz="900" b="1" dirty="0" err="1">
                <a:latin typeface="American Typewriter" panose="02090604020004020304" pitchFamily="18" charset="77"/>
              </a:rPr>
              <a:t>voor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onderwijs</a:t>
            </a:r>
            <a:r>
              <a:rPr lang="en-GB" sz="900" b="1" dirty="0">
                <a:latin typeface="American Typewriter" panose="02090604020004020304" pitchFamily="18" charset="77"/>
              </a:rPr>
              <a:t>, </a:t>
            </a:r>
            <a:r>
              <a:rPr lang="en-GB" sz="900" b="1" dirty="0" err="1">
                <a:latin typeface="American Typewriter" panose="02090604020004020304" pitchFamily="18" charset="77"/>
              </a:rPr>
              <a:t>onderzoek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datagedreven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projecten</a:t>
            </a:r>
            <a:r>
              <a:rPr lang="en-GB" sz="900" b="1" dirty="0">
                <a:latin typeface="American Typewriter" panose="02090604020004020304" pitchFamily="18" charset="77"/>
              </a:rPr>
              <a:t> (2025)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1. Doel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context</a:t>
            </a:r>
          </a:p>
          <a:p>
            <a:pPr>
              <a:buNone/>
            </a:pPr>
            <a:r>
              <a:rPr lang="en-GB" sz="900" dirty="0" err="1">
                <a:latin typeface="American Typewriter" panose="02090604020004020304" pitchFamily="18" charset="77"/>
              </a:rPr>
              <a:t>Deze</a:t>
            </a:r>
            <a:r>
              <a:rPr lang="en-GB" sz="900" dirty="0">
                <a:latin typeface="American Typewriter" panose="02090604020004020304" pitchFamily="18" charset="77"/>
              </a:rPr>
              <a:t> analyse </a:t>
            </a:r>
            <a:r>
              <a:rPr lang="en-GB" sz="900" dirty="0" err="1">
                <a:latin typeface="American Typewriter" panose="02090604020004020304" pitchFamily="18" charset="77"/>
              </a:rPr>
              <a:t>beschrijft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functionele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niet-functionele</a:t>
            </a:r>
            <a:r>
              <a:rPr lang="en-GB" sz="900" dirty="0">
                <a:latin typeface="American Typewriter" panose="02090604020004020304" pitchFamily="18" charset="77"/>
              </a:rPr>
              <a:t> requirements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moderne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van code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onderzoeksdata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>
                <a:latin typeface="American Typewriter" panose="02090604020004020304" pitchFamily="18" charset="77"/>
              </a:rPr>
              <a:t>CI/CD-pipelines,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>
                <a:latin typeface="American Typewriter" panose="02090604020004020304" pitchFamily="18" charset="77"/>
              </a:rPr>
              <a:t>hosting van </a:t>
            </a:r>
            <a:r>
              <a:rPr lang="en-GB" sz="900" dirty="0" err="1">
                <a:latin typeface="American Typewriter" panose="02090604020004020304" pitchFamily="18" charset="77"/>
              </a:rPr>
              <a:t>eenvoudige</a:t>
            </a:r>
            <a:r>
              <a:rPr lang="en-GB" sz="900" dirty="0">
                <a:latin typeface="American Typewriter" panose="02090604020004020304" pitchFamily="18" charset="77"/>
              </a:rPr>
              <a:t> websites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cursus-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projectpagina’s</a:t>
            </a:r>
            <a:r>
              <a:rPr lang="en-GB" sz="900" dirty="0">
                <a:latin typeface="American Typewriter" panose="02090604020004020304" pitchFamily="18" charset="77"/>
              </a:rPr>
              <a:t>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van open science (</a:t>
            </a:r>
            <a:r>
              <a:rPr lang="en-GB" sz="900" dirty="0" err="1">
                <a:latin typeface="American Typewriter" panose="02090604020004020304" pitchFamily="18" charset="77"/>
              </a:rPr>
              <a:t>herbruikbare</a:t>
            </a:r>
            <a:r>
              <a:rPr lang="en-GB" sz="900" dirty="0">
                <a:latin typeface="American Typewriter" panose="02090604020004020304" pitchFamily="18" charset="77"/>
              </a:rPr>
              <a:t>, citable code).</a:t>
            </a: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 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 </a:t>
            </a:r>
            <a:r>
              <a:rPr lang="en-GB" sz="900" b="1" dirty="0" err="1">
                <a:latin typeface="American Typewriter" panose="02090604020004020304" pitchFamily="18" charset="77"/>
              </a:rPr>
              <a:t>Functionele</a:t>
            </a:r>
            <a:r>
              <a:rPr lang="en-GB" sz="900" b="1" dirty="0">
                <a:latin typeface="American Typewriter" panose="02090604020004020304" pitchFamily="18" charset="77"/>
              </a:rPr>
              <a:t> requirements</a:t>
            </a: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2.1 Repositories &amp; </a:t>
            </a:r>
            <a:r>
              <a:rPr lang="en-GB" sz="900" b="1" dirty="0" err="1">
                <a:latin typeface="American Typewriter" panose="02090604020004020304" pitchFamily="18" charset="77"/>
              </a:rPr>
              <a:t>samenwerking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Versiebeheer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distributed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ondersteunen</a:t>
            </a:r>
            <a:r>
              <a:rPr lang="en-GB" sz="900" dirty="0">
                <a:latin typeface="American Typewriter" panose="02090604020004020304" pitchFamily="18" charset="77"/>
              </a:rPr>
              <a:t> (Git-</a:t>
            </a:r>
            <a:r>
              <a:rPr lang="en-GB" sz="900" dirty="0" err="1">
                <a:latin typeface="American Typewriter" panose="02090604020004020304" pitchFamily="18" charset="77"/>
              </a:rPr>
              <a:t>compatibel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Moet </a:t>
            </a:r>
            <a:r>
              <a:rPr lang="en-GB" sz="900" dirty="0" err="1">
                <a:latin typeface="American Typewriter" panose="02090604020004020304" pitchFamily="18" charset="77"/>
              </a:rPr>
              <a:t>geschikte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bieden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zowel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kleine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als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monorepo’s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data pipelines).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Samenwerking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pull/merge requests, code-reviews, inline </a:t>
            </a:r>
            <a:r>
              <a:rPr lang="en-GB" sz="900" dirty="0" err="1">
                <a:latin typeface="American Typewriter" panose="02090604020004020304" pitchFamily="18" charset="77"/>
              </a:rPr>
              <a:t>opmerkingen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bescherming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hoofdbranches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Mogelijkheid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rechten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fijnmazig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stellen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onderzoekers</a:t>
            </a:r>
            <a:r>
              <a:rPr lang="en-GB" sz="900" dirty="0">
                <a:latin typeface="American Typewriter" panose="02090604020004020304" pitchFamily="18" charset="77"/>
              </a:rPr>
              <a:t>, externe partners).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2.2 </a:t>
            </a:r>
            <a:r>
              <a:rPr lang="en-GB" sz="900" b="1" dirty="0" err="1">
                <a:latin typeface="American Typewriter" panose="02090604020004020304" pitchFamily="18" charset="77"/>
              </a:rPr>
              <a:t>Publicatie</a:t>
            </a:r>
            <a:r>
              <a:rPr lang="en-GB" sz="900" b="1" dirty="0">
                <a:latin typeface="American Typewriter" panose="02090604020004020304" pitchFamily="18" charset="77"/>
              </a:rPr>
              <a:t> van </a:t>
            </a: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websites</a:t>
            </a:r>
          </a:p>
          <a:p>
            <a:pPr>
              <a:buFont typeface="+mj-lt"/>
              <a:buAutoNum type="arabicPeriod" startAt="3"/>
            </a:pPr>
            <a:r>
              <a:rPr lang="en-GB" sz="900" b="1" dirty="0" err="1">
                <a:latin typeface="American Typewriter" panose="02090604020004020304" pitchFamily="18" charset="77"/>
              </a:rPr>
              <a:t>Eenvoudige</a:t>
            </a:r>
            <a:r>
              <a:rPr lang="en-GB" sz="900" b="1" dirty="0">
                <a:latin typeface="American Typewriter" panose="02090604020004020304" pitchFamily="18" charset="77"/>
              </a:rPr>
              <a:t> hosting van </a:t>
            </a: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sites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zónder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complexe</a:t>
            </a:r>
            <a:r>
              <a:rPr lang="en-GB" sz="900" dirty="0">
                <a:latin typeface="American Typewriter" panose="02090604020004020304" pitchFamily="18" charset="77"/>
              </a:rPr>
              <a:t> CI-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statische</a:t>
            </a:r>
            <a:r>
              <a:rPr lang="en-GB" sz="900" dirty="0">
                <a:latin typeface="American Typewriter" panose="02090604020004020304" pitchFamily="18" charset="77"/>
              </a:rPr>
              <a:t> website </a:t>
            </a:r>
            <a:r>
              <a:rPr lang="en-GB" sz="900" dirty="0" err="1">
                <a:latin typeface="American Typewriter" panose="02090604020004020304" pitchFamily="18" charset="77"/>
              </a:rPr>
              <a:t>uit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repository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door in de UI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branch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map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kiezen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gevorderde</a:t>
            </a:r>
            <a:r>
              <a:rPr lang="en-GB" sz="900" dirty="0">
                <a:latin typeface="American Typewriter" panose="02090604020004020304" pitchFamily="18" charset="77"/>
              </a:rPr>
              <a:t> use-cases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het </a:t>
            </a:r>
            <a:r>
              <a:rPr lang="en-GB" sz="900" dirty="0" err="1">
                <a:latin typeface="American Typewriter" panose="02090604020004020304" pitchFamily="18" charset="77"/>
              </a:rPr>
              <a:t>wél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mogelijk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publicatie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pipeline (YAML </a:t>
            </a:r>
            <a:r>
              <a:rPr lang="en-GB" sz="900" dirty="0" err="1">
                <a:latin typeface="American Typewriter" panose="02090604020004020304" pitchFamily="18" charset="77"/>
              </a:rPr>
              <a:t>e.d.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automatiseren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3"/>
            </a:pPr>
            <a:r>
              <a:rPr lang="en-GB" sz="900" b="1" dirty="0" err="1">
                <a:latin typeface="American Typewriter" panose="02090604020004020304" pitchFamily="18" charset="77"/>
              </a:rPr>
              <a:t>Automatische</a:t>
            </a:r>
            <a:r>
              <a:rPr lang="en-GB" sz="900" b="1" dirty="0">
                <a:latin typeface="American Typewriter" panose="02090604020004020304" pitchFamily="18" charset="77"/>
              </a:rPr>
              <a:t> build &amp; deploy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>
                <a:latin typeface="American Typewriter" panose="02090604020004020304" pitchFamily="18" charset="77"/>
              </a:rPr>
              <a:t>Template-</a:t>
            </a: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stacks (HTML/CSS/JS, </a:t>
            </a:r>
            <a:r>
              <a:rPr lang="en-GB" sz="900" dirty="0" err="1">
                <a:latin typeface="American Typewriter" panose="02090604020004020304" pitchFamily="18" charset="77"/>
              </a:rPr>
              <a:t>standaard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documentatie-generatoren</a:t>
            </a:r>
            <a:r>
              <a:rPr lang="en-GB" sz="900" dirty="0">
                <a:latin typeface="American Typewriter" panose="02090604020004020304" pitchFamily="18" charset="77"/>
              </a:rPr>
              <a:t>) om de </a:t>
            </a:r>
            <a:r>
              <a:rPr lang="en-GB" sz="900" dirty="0" err="1">
                <a:latin typeface="American Typewriter" panose="02090604020004020304" pitchFamily="18" charset="77"/>
              </a:rPr>
              <a:t>drempel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verlagen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2.3 CI/CD &amp; workflow-</a:t>
            </a:r>
            <a:r>
              <a:rPr lang="en-GB" sz="900" b="1" dirty="0" err="1">
                <a:latin typeface="American Typewriter" panose="02090604020004020304" pitchFamily="18" charset="77"/>
              </a:rPr>
              <a:t>automatisering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5"/>
            </a:pPr>
            <a:r>
              <a:rPr lang="en-GB" sz="900" b="1" dirty="0">
                <a:latin typeface="American Typewriter" panose="02090604020004020304" pitchFamily="18" charset="77"/>
              </a:rPr>
              <a:t>CI/CD-templates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“</a:t>
            </a:r>
            <a:r>
              <a:rPr lang="en-GB" sz="900" b="1" dirty="0" err="1">
                <a:latin typeface="American Typewriter" panose="02090604020004020304" pitchFamily="18" charset="77"/>
              </a:rPr>
              <a:t>marktplaats</a:t>
            </a:r>
            <a:r>
              <a:rPr lang="en-GB" sz="900" b="1" dirty="0">
                <a:latin typeface="American Typewriter" panose="02090604020004020304" pitchFamily="18" charset="77"/>
              </a:rPr>
              <a:t>”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ruime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collectie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herbruikbare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bouwstenen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CI/CD </a:t>
            </a:r>
            <a:r>
              <a:rPr lang="en-GB" sz="900" dirty="0" err="1">
                <a:latin typeface="American Typewriter" panose="02090604020004020304" pitchFamily="18" charset="77"/>
              </a:rPr>
              <a:t>bieden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testen</a:t>
            </a:r>
            <a:r>
              <a:rPr lang="en-GB" sz="900" dirty="0">
                <a:latin typeface="American Typewriter" panose="02090604020004020304" pitchFamily="18" charset="77"/>
              </a:rPr>
              <a:t>, linters, security-scans, build &amp; deploy).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minimale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standaardpipeline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activeren</a:t>
            </a:r>
            <a:r>
              <a:rPr lang="en-GB" sz="900" dirty="0">
                <a:latin typeface="American Typewriter" panose="02090604020004020304" pitchFamily="18" charset="77"/>
              </a:rPr>
              <a:t> op basis van templates of “plug-and-play”-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naast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mogelijkheid</a:t>
            </a:r>
            <a:r>
              <a:rPr lang="en-GB" sz="900" dirty="0">
                <a:latin typeface="American Typewriter" panose="02090604020004020304" pitchFamily="18" charset="77"/>
              </a:rPr>
              <a:t> om eigen scripts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schrijven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5"/>
            </a:pPr>
            <a:r>
              <a:rPr lang="en-GB" sz="900" b="1" dirty="0" err="1">
                <a:latin typeface="American Typewriter" panose="02090604020004020304" pitchFamily="18" charset="77"/>
              </a:rPr>
              <a:t>Schaling</a:t>
            </a:r>
            <a:r>
              <a:rPr lang="en-GB" sz="900" b="1" dirty="0">
                <a:latin typeface="American Typewriter" panose="02090604020004020304" pitchFamily="18" charset="77"/>
              </a:rPr>
              <a:t> &amp; minutes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voldoende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capaciteit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onderzoeksgebruik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pieken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deadlines).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Heldere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limieten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bijkoop</a:t>
            </a:r>
            <a:r>
              <a:rPr lang="en-GB" sz="900" dirty="0">
                <a:latin typeface="American Typewriter" panose="02090604020004020304" pitchFamily="18" charset="77"/>
              </a:rPr>
              <a:t> van extra compute- of pipeline-</a:t>
            </a:r>
            <a:r>
              <a:rPr lang="en-GB" sz="900" dirty="0" err="1">
                <a:latin typeface="American Typewriter" panose="02090604020004020304" pitchFamily="18" charset="77"/>
              </a:rPr>
              <a:t>minuten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2.4 Open science, </a:t>
            </a:r>
            <a:r>
              <a:rPr lang="en-GB" sz="900" b="1" dirty="0" err="1">
                <a:latin typeface="American Typewriter" panose="02090604020004020304" pitchFamily="18" charset="77"/>
              </a:rPr>
              <a:t>publicatie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archivering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7"/>
            </a:pPr>
            <a:r>
              <a:rPr lang="en-GB" sz="900" b="1" dirty="0" err="1">
                <a:latin typeface="American Typewriter" panose="02090604020004020304" pitchFamily="18" charset="77"/>
              </a:rPr>
              <a:t>Koppelvlak</a:t>
            </a:r>
            <a:r>
              <a:rPr lang="en-GB" sz="900" b="1" dirty="0">
                <a:latin typeface="American Typewriter" panose="02090604020004020304" pitchFamily="18" charset="77"/>
              </a:rPr>
              <a:t> met open-science repositories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koppelen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externe </a:t>
            </a:r>
            <a:r>
              <a:rPr lang="en-GB" sz="900" dirty="0" err="1">
                <a:latin typeface="American Typewriter" panose="02090604020004020304" pitchFamily="18" charset="77"/>
              </a:rPr>
              <a:t>onderzoeksrepository</a:t>
            </a:r>
            <a:r>
              <a:rPr lang="en-GB" sz="900" dirty="0">
                <a:latin typeface="American Typewriter" panose="02090604020004020304" pitchFamily="18" charset="77"/>
              </a:rPr>
              <a:t> die </a:t>
            </a:r>
            <a:r>
              <a:rPr lang="en-GB" sz="900" b="1" dirty="0">
                <a:latin typeface="American Typewriter" panose="02090604020004020304" pitchFamily="18" charset="77"/>
              </a:rPr>
              <a:t>DOI’s (Digital Object Identifiers)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uitgeven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Bij het </a:t>
            </a:r>
            <a:r>
              <a:rPr lang="en-GB" sz="900" dirty="0" err="1">
                <a:latin typeface="American Typewriter" panose="02090604020004020304" pitchFamily="18" charset="77"/>
              </a:rPr>
              <a:t>maken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“release” van code of data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automatisch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versie</a:t>
            </a:r>
            <a:r>
              <a:rPr lang="en-GB" sz="900" dirty="0">
                <a:latin typeface="American Typewriter" panose="02090604020004020304" pitchFamily="18" charset="77"/>
              </a:rPr>
              <a:t> met DOI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vastgelegd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zodat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publicaties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wetenschappelijke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tijdschriften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verwijzen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naar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stabiel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archief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7"/>
            </a:pPr>
            <a:r>
              <a:rPr lang="en-GB" sz="900" b="1" dirty="0" err="1">
                <a:latin typeface="American Typewriter" panose="02090604020004020304" pitchFamily="18" charset="77"/>
              </a:rPr>
              <a:t>Langetermijnarchivering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Export van repositories (code + metadata) </a:t>
            </a:r>
            <a:r>
              <a:rPr lang="en-GB" sz="900" dirty="0" err="1">
                <a:latin typeface="American Typewriter" panose="02090604020004020304" pitchFamily="18" charset="77"/>
              </a:rPr>
              <a:t>naar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archiefsystemen</a:t>
            </a:r>
            <a:r>
              <a:rPr lang="en-GB" sz="900" dirty="0">
                <a:latin typeface="American Typewriter" panose="02090604020004020304" pitchFamily="18" charset="77"/>
              </a:rPr>
              <a:t> van de </a:t>
            </a:r>
            <a:r>
              <a:rPr lang="en-GB" sz="900" dirty="0" err="1">
                <a:latin typeface="American Typewriter" panose="02090604020004020304" pitchFamily="18" charset="77"/>
              </a:rPr>
              <a:t>instelling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mogelijk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Metadata (auteurs, </a:t>
            </a:r>
            <a:r>
              <a:rPr lang="en-GB" sz="900" dirty="0" err="1">
                <a:latin typeface="American Typewriter" panose="02090604020004020304" pitchFamily="18" charset="77"/>
              </a:rPr>
              <a:t>versies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licenties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machine-</a:t>
            </a:r>
            <a:r>
              <a:rPr lang="en-GB" sz="900" dirty="0" err="1">
                <a:latin typeface="American Typewriter" panose="02090604020004020304" pitchFamily="18" charset="77"/>
              </a:rPr>
              <a:t>leesbaar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indexering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citatie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2.5 </a:t>
            </a:r>
            <a:r>
              <a:rPr lang="en-GB" sz="900" b="1" dirty="0" err="1">
                <a:latin typeface="American Typewriter" panose="02090604020004020304" pitchFamily="18" charset="77"/>
              </a:rPr>
              <a:t>Integraties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ecosysteem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9"/>
            </a:pPr>
            <a:r>
              <a:rPr lang="en-GB" sz="900" b="1" dirty="0" err="1">
                <a:latin typeface="American Typewriter" panose="02090604020004020304" pitchFamily="18" charset="77"/>
              </a:rPr>
              <a:t>Integraties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 err="1">
                <a:latin typeface="American Typewriter" panose="02090604020004020304" pitchFamily="18" charset="77"/>
              </a:rPr>
              <a:t>Beschikbare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integraties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ontwikkeltools</a:t>
            </a:r>
            <a:r>
              <a:rPr lang="en-GB" sz="900" dirty="0">
                <a:latin typeface="American Typewriter" panose="02090604020004020304" pitchFamily="18" charset="77"/>
              </a:rPr>
              <a:t>, issue-trackers, identity-providers (SSO),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data-</a:t>
            </a:r>
            <a:r>
              <a:rPr lang="en-GB" sz="900" dirty="0" err="1">
                <a:latin typeface="American Typewriter" panose="02090604020004020304" pitchFamily="18" charset="77"/>
              </a:rPr>
              <a:t>platformen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cloud-</a:t>
            </a:r>
            <a:r>
              <a:rPr lang="en-GB" sz="900" dirty="0" err="1">
                <a:latin typeface="American Typewriter" panose="02090604020004020304" pitchFamily="18" charset="77"/>
              </a:rPr>
              <a:t>opslag</a:t>
            </a:r>
            <a:r>
              <a:rPr lang="en-GB" sz="900" dirty="0">
                <a:latin typeface="American Typewriter" panose="02090604020004020304" pitchFamily="18" charset="77"/>
              </a:rPr>
              <a:t>, data-warehouses).</a:t>
            </a: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>
                <a:latin typeface="American Typewriter" panose="02090604020004020304" pitchFamily="18" charset="77"/>
              </a:rPr>
              <a:t>API’s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webhooks om </a:t>
            </a:r>
            <a:r>
              <a:rPr lang="en-GB" sz="900" dirty="0" err="1">
                <a:latin typeface="American Typewriter" panose="02090604020004020304" pitchFamily="18" charset="77"/>
              </a:rPr>
              <a:t>maatwerk-integraties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bouwen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bijvoorbeeld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onderzoeksadministratie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>
              <a:buFont typeface="+mj-lt"/>
              <a:buAutoNum type="arabicPeriod" startAt="9"/>
            </a:pPr>
            <a:r>
              <a:rPr lang="en-GB" sz="900" b="1" dirty="0" err="1">
                <a:latin typeface="American Typewriter" panose="02090604020004020304" pitchFamily="18" charset="77"/>
              </a:rPr>
              <a:t>Ecosysteem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 err="1">
                <a:latin typeface="American Typewriter" panose="02090604020004020304" pitchFamily="18" charset="77"/>
              </a:rPr>
              <a:t>Beschikbaarheid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groot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ecosysteem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actieve</a:t>
            </a:r>
            <a:r>
              <a:rPr lang="en-GB" sz="900" dirty="0">
                <a:latin typeface="American Typewriter" panose="02090604020004020304" pitchFamily="18" charset="77"/>
              </a:rPr>
              <a:t> community, plugins, </a:t>
            </a:r>
            <a:r>
              <a:rPr lang="en-GB" sz="900" dirty="0" err="1">
                <a:latin typeface="American Typewriter" panose="02090604020004020304" pitchFamily="18" charset="77"/>
              </a:rPr>
              <a:t>voorbeeld</a:t>
            </a:r>
            <a:r>
              <a:rPr lang="en-GB" sz="900" dirty="0">
                <a:latin typeface="American Typewriter" panose="02090604020004020304" pitchFamily="18" charset="77"/>
              </a:rPr>
              <a:t>-workflows) om het </a:t>
            </a:r>
            <a:r>
              <a:rPr lang="en-GB" sz="900" dirty="0" err="1">
                <a:latin typeface="American Typewriter" panose="02090604020004020304" pitchFamily="18" charset="77"/>
              </a:rPr>
              <a:t>opzetten</a:t>
            </a:r>
            <a:r>
              <a:rPr lang="en-GB" sz="900" dirty="0">
                <a:latin typeface="American Typewriter" panose="02090604020004020304" pitchFamily="18" charset="77"/>
              </a:rPr>
              <a:t> van pipelines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onderwijsvoorbeelden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versnellen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 </a:t>
            </a:r>
            <a:r>
              <a:rPr lang="en-GB" sz="900" b="1" dirty="0" err="1">
                <a:latin typeface="American Typewriter" panose="02090604020004020304" pitchFamily="18" charset="77"/>
              </a:rPr>
              <a:t>Niet-functionele</a:t>
            </a:r>
            <a:r>
              <a:rPr lang="en-GB" sz="900" b="1" dirty="0">
                <a:latin typeface="American Typewriter" panose="02090604020004020304" pitchFamily="18" charset="77"/>
              </a:rPr>
              <a:t> requirements</a:t>
            </a: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3.1 </a:t>
            </a:r>
            <a:r>
              <a:rPr lang="en-GB" sz="900" b="1" dirty="0" err="1">
                <a:latin typeface="American Typewriter" panose="02090604020004020304" pitchFamily="18" charset="77"/>
              </a:rPr>
              <a:t>Gebruiksvriendelijkheid</a:t>
            </a:r>
            <a:r>
              <a:rPr lang="en-GB" sz="900" b="1" dirty="0">
                <a:latin typeface="American Typewriter" panose="02090604020004020304" pitchFamily="18" charset="77"/>
              </a:rPr>
              <a:t> &amp; developer experience</a:t>
            </a:r>
          </a:p>
          <a:p>
            <a:pPr>
              <a:buFont typeface="+mj-lt"/>
              <a:buAutoNum type="arabicPeriod" startAt="11"/>
            </a:pPr>
            <a:r>
              <a:rPr lang="en-GB" sz="900" b="1" dirty="0" err="1">
                <a:latin typeface="American Typewriter" panose="02090604020004020304" pitchFamily="18" charset="77"/>
              </a:rPr>
              <a:t>Intuïtieve</a:t>
            </a:r>
            <a:r>
              <a:rPr lang="en-GB" sz="900" b="1" dirty="0">
                <a:latin typeface="American Typewriter" panose="02090604020004020304" pitchFamily="18" charset="77"/>
              </a:rPr>
              <a:t> UI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gebruikersinterface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overzichtelijk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eerste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kennismaking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),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onderzoekers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>
                <a:latin typeface="American Typewriter" panose="02090604020004020304" pitchFamily="18" charset="77"/>
              </a:rPr>
              <a:t>DevOps-</a:t>
            </a:r>
            <a:r>
              <a:rPr lang="en-GB" sz="900" dirty="0" err="1">
                <a:latin typeface="American Typewriter" panose="02090604020004020304" pitchFamily="18" charset="77"/>
              </a:rPr>
              <a:t>specialisten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functies</a:t>
            </a:r>
            <a:r>
              <a:rPr lang="en-GB" sz="900" dirty="0">
                <a:latin typeface="American Typewriter" panose="02090604020004020304" pitchFamily="18" charset="77"/>
              </a:rPr>
              <a:t> (repository </a:t>
            </a:r>
            <a:r>
              <a:rPr lang="en-GB" sz="900" dirty="0" err="1">
                <a:latin typeface="American Typewriter" panose="02090604020004020304" pitchFamily="18" charset="77"/>
              </a:rPr>
              <a:t>aanmaken</a:t>
            </a:r>
            <a:r>
              <a:rPr lang="en-GB" sz="900" dirty="0">
                <a:latin typeface="American Typewriter" panose="02090604020004020304" pitchFamily="18" charset="77"/>
              </a:rPr>
              <a:t>, website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, pipeline </a:t>
            </a:r>
            <a:r>
              <a:rPr lang="en-GB" sz="900" dirty="0" err="1">
                <a:latin typeface="American Typewriter" panose="02090604020004020304" pitchFamily="18" charset="77"/>
              </a:rPr>
              <a:t>starten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handleiding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vinden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1"/>
            </a:pPr>
            <a:r>
              <a:rPr lang="en-GB" sz="900" b="1" dirty="0">
                <a:latin typeface="American Typewriter" panose="02090604020004020304" pitchFamily="18" charset="77"/>
              </a:rPr>
              <a:t>Onboarding &amp; </a:t>
            </a:r>
            <a:r>
              <a:rPr lang="en-GB" sz="900" b="1" dirty="0" err="1">
                <a:latin typeface="American Typewriter" panose="02090604020004020304" pitchFamily="18" charset="77"/>
              </a:rPr>
              <a:t>documentatie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Duidelijke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documentatie</a:t>
            </a:r>
            <a:r>
              <a:rPr lang="en-GB" sz="900" dirty="0">
                <a:latin typeface="American Typewriter" panose="02090604020004020304" pitchFamily="18" charset="77"/>
              </a:rPr>
              <a:t>, tutorials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voorbeeldprojecten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-scenario’s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klasbrede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oefenopdrachten</a:t>
            </a:r>
            <a:r>
              <a:rPr lang="en-GB" sz="900" dirty="0">
                <a:latin typeface="American Typewriter" panose="02090604020004020304" pitchFamily="18" charset="77"/>
              </a:rPr>
              <a:t>, templates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minoren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3.2 </a:t>
            </a:r>
            <a:r>
              <a:rPr lang="en-GB" sz="900" b="1" dirty="0" err="1">
                <a:latin typeface="American Typewriter" panose="02090604020004020304" pitchFamily="18" charset="77"/>
              </a:rPr>
              <a:t>Betrouwbaarheid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beschikbaarheid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3"/>
            </a:pPr>
            <a:r>
              <a:rPr lang="en-GB" sz="900" b="1" dirty="0" err="1">
                <a:latin typeface="American Typewriter" panose="02090604020004020304" pitchFamily="18" charset="77"/>
              </a:rPr>
              <a:t>Beschikbaarheid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dirty="0">
                <a:latin typeface="American Typewriter" panose="02090604020004020304" pitchFamily="18" charset="77"/>
              </a:rPr>
              <a:t> variant: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SLA van </a:t>
            </a:r>
            <a:r>
              <a:rPr lang="en-GB" sz="900" dirty="0" err="1">
                <a:latin typeface="American Typewriter" panose="02090604020004020304" pitchFamily="18" charset="77"/>
              </a:rPr>
              <a:t>minimaal</a:t>
            </a:r>
            <a:r>
              <a:rPr lang="en-GB" sz="900" dirty="0">
                <a:latin typeface="American Typewriter" panose="02090604020004020304" pitchFamily="18" charset="77"/>
              </a:rPr>
              <a:t> 99,9% uptime, met </a:t>
            </a:r>
            <a:r>
              <a:rPr lang="en-GB" sz="900" dirty="0" err="1">
                <a:latin typeface="American Typewriter" panose="02090604020004020304" pitchFamily="18" charset="77"/>
              </a:rPr>
              <a:t>wereldwijde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beschikbaarheid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content delivery </a:t>
            </a:r>
            <a:r>
              <a:rPr lang="en-GB" sz="900" dirty="0" err="1">
                <a:latin typeface="American Typewriter" panose="02090604020004020304" pitchFamily="18" charset="77"/>
              </a:rPr>
              <a:t>netwerk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dirty="0">
                <a:latin typeface="American Typewriter" panose="02090604020004020304" pitchFamily="18" charset="77"/>
              </a:rPr>
              <a:t> variant: monitoring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redundantie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ingericht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zodat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uitval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beperkt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blijft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onderhoud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gepland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3"/>
            </a:pPr>
            <a:r>
              <a:rPr lang="en-GB" sz="900" b="1" dirty="0">
                <a:latin typeface="American Typewriter" panose="02090604020004020304" pitchFamily="18" charset="77"/>
              </a:rPr>
              <a:t>Updates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beveiliging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 err="1">
                <a:latin typeface="American Typewriter" panose="02090604020004020304" pitchFamily="18" charset="77"/>
              </a:rPr>
              <a:t>Cloudvariant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  <a:r>
              <a:rPr lang="en-GB" sz="900" dirty="0" err="1">
                <a:latin typeface="American Typewriter" panose="02090604020004020304" pitchFamily="18" charset="77"/>
              </a:rPr>
              <a:t>automatische</a:t>
            </a:r>
            <a:r>
              <a:rPr lang="en-GB" sz="900" dirty="0">
                <a:latin typeface="American Typewriter" panose="02090604020004020304" pitchFamily="18" charset="77"/>
              </a:rPr>
              <a:t> updates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security-patches door de </a:t>
            </a:r>
            <a:r>
              <a:rPr lang="en-GB" sz="900" dirty="0" err="1">
                <a:latin typeface="American Typewriter" panose="02090604020004020304" pitchFamily="18" charset="77"/>
              </a:rPr>
              <a:t>leverancier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 err="1">
                <a:latin typeface="American Typewriter" panose="02090604020004020304" pitchFamily="18" charset="77"/>
              </a:rPr>
              <a:t>Zelfbeheerd</a:t>
            </a:r>
            <a:r>
              <a:rPr lang="en-GB" sz="900" dirty="0">
                <a:latin typeface="American Typewriter" panose="02090604020004020304" pitchFamily="18" charset="77"/>
              </a:rPr>
              <a:t>: de </a:t>
            </a:r>
            <a:r>
              <a:rPr lang="en-GB" sz="900" dirty="0" err="1">
                <a:latin typeface="American Typewriter" panose="02090604020004020304" pitchFamily="18" charset="77"/>
              </a:rPr>
              <a:t>instelling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zelf</a:t>
            </a:r>
            <a:r>
              <a:rPr lang="en-GB" sz="900" dirty="0">
                <a:latin typeface="American Typewriter" panose="02090604020004020304" pitchFamily="18" charset="77"/>
              </a:rPr>
              <a:t> (of via SURF/IT-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) patches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upgrades </a:t>
            </a:r>
            <a:r>
              <a:rPr lang="en-GB" sz="900" dirty="0" err="1">
                <a:latin typeface="American Typewriter" panose="02090604020004020304" pitchFamily="18" charset="77"/>
              </a:rPr>
              <a:t>plannen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uitvoeren</a:t>
            </a:r>
            <a:r>
              <a:rPr lang="en-GB" sz="900" dirty="0">
                <a:latin typeface="American Typewriter" panose="02090604020004020304" pitchFamily="18" charset="77"/>
              </a:rPr>
              <a:t>; </a:t>
            </a:r>
            <a:r>
              <a:rPr lang="en-GB" sz="900" dirty="0" err="1">
                <a:latin typeface="American Typewriter" panose="02090604020004020304" pitchFamily="18" charset="77"/>
              </a:rPr>
              <a:t>dit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vergt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structurele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beheer-capaciteit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3.3 </a:t>
            </a:r>
            <a:r>
              <a:rPr lang="en-GB" sz="900" b="1" dirty="0" err="1">
                <a:latin typeface="American Typewriter" panose="02090604020004020304" pitchFamily="18" charset="77"/>
              </a:rPr>
              <a:t>Beheerlast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organisatie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5"/>
            </a:pP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Geen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 door de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: hosting, </a:t>
            </a:r>
            <a:r>
              <a:rPr lang="en-GB" sz="900" dirty="0" err="1">
                <a:latin typeface="American Typewriter" panose="02090604020004020304" pitchFamily="18" charset="77"/>
              </a:rPr>
              <a:t>schaalbaarheid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patching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verantwoordelijkheid</a:t>
            </a:r>
            <a:r>
              <a:rPr lang="en-GB" sz="900" dirty="0">
                <a:latin typeface="American Typewriter" panose="02090604020004020304" pitchFamily="18" charset="77"/>
              </a:rPr>
              <a:t> van de </a:t>
            </a:r>
            <a:r>
              <a:rPr lang="en-GB" sz="900" dirty="0" err="1">
                <a:latin typeface="American Typewriter" panose="02090604020004020304" pitchFamily="18" charset="77"/>
              </a:rPr>
              <a:t>leverancier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Identity-</a:t>
            </a: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(SSO)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centraal</a:t>
            </a:r>
            <a:r>
              <a:rPr lang="en-GB" sz="900" dirty="0">
                <a:latin typeface="American Typewriter" panose="02090604020004020304" pitchFamily="18" charset="77"/>
              </a:rPr>
              <a:t> door de IT-</a:t>
            </a:r>
            <a:r>
              <a:rPr lang="en-GB" sz="900" dirty="0" err="1">
                <a:latin typeface="American Typewriter" panose="02090604020004020304" pitchFamily="18" charset="77"/>
              </a:rPr>
              <a:t>organisatie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ingericht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5"/>
            </a:pP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 err="1">
                <a:latin typeface="American Typewriter" panose="02090604020004020304" pitchFamily="18" charset="77"/>
              </a:rPr>
              <a:t>Vereist</a:t>
            </a:r>
            <a:r>
              <a:rPr lang="en-GB" sz="900" dirty="0">
                <a:latin typeface="American Typewriter" panose="02090604020004020304" pitchFamily="18" charset="77"/>
              </a:rPr>
              <a:t> eigen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 (servers, </a:t>
            </a:r>
            <a:r>
              <a:rPr lang="en-GB" sz="900" dirty="0" err="1">
                <a:latin typeface="American Typewriter" panose="02090604020004020304" pitchFamily="18" charset="77"/>
              </a:rPr>
              <a:t>opslag</a:t>
            </a:r>
            <a:r>
              <a:rPr lang="en-GB" sz="900" dirty="0">
                <a:latin typeface="American Typewriter" panose="02090604020004020304" pitchFamily="18" charset="77"/>
              </a:rPr>
              <a:t>, back-ups, monitoring).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 err="1">
                <a:latin typeface="American Typewriter" panose="02090604020004020304" pitchFamily="18" charset="77"/>
              </a:rPr>
              <a:t>Vereist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minimaal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deel</a:t>
            </a:r>
            <a:r>
              <a:rPr lang="en-GB" sz="900" dirty="0">
                <a:latin typeface="American Typewriter" panose="02090604020004020304" pitchFamily="18" charset="77"/>
              </a:rPr>
              <a:t>-FTE specialist (DevOps / </a:t>
            </a:r>
            <a:r>
              <a:rPr lang="en-GB" sz="900" dirty="0" err="1">
                <a:latin typeface="American Typewriter" panose="02090604020004020304" pitchFamily="18" charset="77"/>
              </a:rPr>
              <a:t>systeembeheer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onderhoud</a:t>
            </a:r>
            <a:r>
              <a:rPr lang="en-GB" sz="900" dirty="0">
                <a:latin typeface="American Typewriter" panose="02090604020004020304" pitchFamily="18" charset="77"/>
              </a:rPr>
              <a:t>, upgrades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incidentafhandeling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Risico’s: </a:t>
            </a:r>
            <a:r>
              <a:rPr lang="en-GB" sz="900" dirty="0" err="1">
                <a:latin typeface="American Typewriter" panose="02090604020004020304" pitchFamily="18" charset="77"/>
              </a:rPr>
              <a:t>achterblijvende</a:t>
            </a:r>
            <a:r>
              <a:rPr lang="en-GB" sz="900" dirty="0">
                <a:latin typeface="American Typewriter" panose="02090604020004020304" pitchFamily="18" charset="77"/>
              </a:rPr>
              <a:t> updates, </a:t>
            </a:r>
            <a:r>
              <a:rPr lang="en-GB" sz="900" dirty="0" err="1">
                <a:latin typeface="American Typewriter" panose="02090604020004020304" pitchFamily="18" charset="77"/>
              </a:rPr>
              <a:t>incidentele</a:t>
            </a:r>
            <a:r>
              <a:rPr lang="en-GB" sz="900" dirty="0">
                <a:latin typeface="American Typewriter" panose="02090604020004020304" pitchFamily="18" charset="77"/>
              </a:rPr>
              <a:t> performance-</a:t>
            </a:r>
            <a:r>
              <a:rPr lang="en-GB" sz="900" dirty="0" err="1">
                <a:latin typeface="American Typewriter" panose="02090604020004020304" pitchFamily="18" charset="77"/>
              </a:rPr>
              <a:t>problemen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tijdelijk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ontbreken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bepaalde</a:t>
            </a:r>
            <a:r>
              <a:rPr lang="en-GB" sz="900" dirty="0">
                <a:latin typeface="American Typewriter" panose="02090604020004020304" pitchFamily="18" charset="77"/>
              </a:rPr>
              <a:t> features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webhostingfunctionaliteit</a:t>
            </a:r>
            <a:r>
              <a:rPr lang="en-GB" sz="900" dirty="0">
                <a:latin typeface="American Typewriter" panose="02090604020004020304" pitchFamily="18" charset="77"/>
              </a:rPr>
              <a:t>) door </a:t>
            </a:r>
            <a:r>
              <a:rPr lang="en-GB" sz="900" dirty="0" err="1">
                <a:latin typeface="American Typewriter" panose="02090604020004020304" pitchFamily="18" charset="77"/>
              </a:rPr>
              <a:t>lokale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3.4 </a:t>
            </a:r>
            <a:r>
              <a:rPr lang="en-GB" sz="900" b="1" dirty="0" err="1">
                <a:latin typeface="American Typewriter" panose="02090604020004020304" pitchFamily="18" charset="77"/>
              </a:rPr>
              <a:t>Schaalbaarheid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prestaties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7"/>
            </a:pPr>
            <a:r>
              <a:rPr lang="en-GB" sz="900" b="1" dirty="0" err="1">
                <a:latin typeface="American Typewriter" panose="02090604020004020304" pitchFamily="18" charset="77"/>
              </a:rPr>
              <a:t>Schaalbaar</a:t>
            </a:r>
            <a:r>
              <a:rPr lang="en-GB" sz="900" b="1" dirty="0">
                <a:latin typeface="American Typewriter" panose="02090604020004020304" pitchFamily="18" charset="77"/>
              </a:rPr>
              <a:t> per </a:t>
            </a:r>
            <a:r>
              <a:rPr lang="en-GB" sz="900" b="1" dirty="0" err="1">
                <a:latin typeface="American Typewriter" panose="02090604020004020304" pitchFamily="18" charset="77"/>
              </a:rPr>
              <a:t>faculteit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hogeschoolbreed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7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merkbare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performanceproblemen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opschalen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kleine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projectteams</a:t>
            </a:r>
            <a:r>
              <a:rPr lang="en-GB" sz="900" dirty="0">
                <a:latin typeface="American Typewriter" panose="02090604020004020304" pitchFamily="18" charset="77"/>
              </a:rPr>
              <a:t> tot </a:t>
            </a:r>
            <a:r>
              <a:rPr lang="en-GB" sz="900" dirty="0" err="1">
                <a:latin typeface="American Typewriter" panose="02090604020004020304" pitchFamily="18" charset="77"/>
              </a:rPr>
              <a:t>honderden</a:t>
            </a:r>
            <a:r>
              <a:rPr lang="en-GB" sz="900" dirty="0">
                <a:latin typeface="American Typewriter" panose="02090604020004020304" pitchFamily="18" charset="77"/>
              </a:rPr>
              <a:t> of </a:t>
            </a:r>
            <a:r>
              <a:rPr lang="en-GB" sz="900" dirty="0" err="1">
                <a:latin typeface="American Typewriter" panose="02090604020004020304" pitchFamily="18" charset="77"/>
              </a:rPr>
              <a:t>duizenden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7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repositories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dataprojecten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monorepo’s</a:t>
            </a:r>
            <a:r>
              <a:rPr lang="en-GB" sz="900" dirty="0">
                <a:latin typeface="American Typewriter" panose="02090604020004020304" pitchFamily="18" charset="77"/>
              </a:rPr>
              <a:t> met data pipelines) is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expliciete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eis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4. </a:t>
            </a:r>
            <a:r>
              <a:rPr lang="en-GB" sz="900" b="1" dirty="0" err="1">
                <a:latin typeface="American Typewriter" panose="02090604020004020304" pitchFamily="18" charset="77"/>
              </a:rPr>
              <a:t>Architectuurkeuze</a:t>
            </a:r>
            <a:r>
              <a:rPr lang="en-GB" sz="900" b="1" dirty="0">
                <a:latin typeface="American Typewriter" panose="02090604020004020304" pitchFamily="18" charset="77"/>
              </a:rPr>
              <a:t>: </a:t>
            </a:r>
            <a:r>
              <a:rPr lang="en-GB" sz="900" b="1" dirty="0" err="1">
                <a:latin typeface="American Typewriter" panose="02090604020004020304" pitchFamily="18" charset="77"/>
              </a:rPr>
              <a:t>cloudgehost</a:t>
            </a:r>
            <a:r>
              <a:rPr lang="en-GB" sz="900" b="1" dirty="0">
                <a:latin typeface="American Typewriter" panose="02090604020004020304" pitchFamily="18" charset="77"/>
              </a:rPr>
              <a:t> vs. </a:t>
            </a:r>
            <a:r>
              <a:rPr lang="en-GB" sz="900" b="1" dirty="0" err="1">
                <a:latin typeface="American Typewriter" panose="02090604020004020304" pitchFamily="18" charset="77"/>
              </a:rPr>
              <a:t>zelfbeheerd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Op basis van </a:t>
            </a:r>
            <a:r>
              <a:rPr lang="en-GB" sz="900" dirty="0" err="1">
                <a:latin typeface="American Typewriter" panose="02090604020004020304" pitchFamily="18" charset="77"/>
              </a:rPr>
              <a:t>bovenstaande</a:t>
            </a:r>
            <a:r>
              <a:rPr lang="en-GB" sz="900" dirty="0">
                <a:latin typeface="American Typewriter" panose="02090604020004020304" pitchFamily="18" charset="77"/>
              </a:rPr>
              <a:t> requirements </a:t>
            </a:r>
            <a:r>
              <a:rPr lang="en-GB" sz="900" dirty="0" err="1">
                <a:latin typeface="American Typewriter" panose="02090604020004020304" pitchFamily="18" charset="77"/>
              </a:rPr>
              <a:t>tekenen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zich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lijnen</a:t>
            </a:r>
            <a:r>
              <a:rPr lang="en-GB" sz="900" dirty="0">
                <a:latin typeface="American Typewriter" panose="02090604020004020304" pitchFamily="18" charset="77"/>
              </a:rPr>
              <a:t> twee scenario’s </a:t>
            </a:r>
            <a:r>
              <a:rPr lang="en-GB" sz="900" dirty="0" err="1">
                <a:latin typeface="American Typewriter" panose="02090604020004020304" pitchFamily="18" charset="77"/>
              </a:rPr>
              <a:t>af</a:t>
            </a:r>
            <a:r>
              <a:rPr lang="en-GB" sz="900" dirty="0">
                <a:latin typeface="American Typewriter" panose="02090604020004020304" pitchFamily="18" charset="77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ontwikkel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Minder </a:t>
            </a:r>
            <a:r>
              <a:rPr lang="en-GB" sz="900" dirty="0" err="1">
                <a:latin typeface="American Typewriter" panose="02090604020004020304" pitchFamily="18" charset="77"/>
              </a:rPr>
              <a:t>beheerlast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Snelle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toegang</a:t>
            </a:r>
            <a:r>
              <a:rPr lang="en-GB" sz="900" dirty="0">
                <a:latin typeface="American Typewriter" panose="02090604020004020304" pitchFamily="18" charset="77"/>
              </a:rPr>
              <a:t> tot </a:t>
            </a:r>
            <a:r>
              <a:rPr lang="en-GB" sz="900" dirty="0" err="1">
                <a:latin typeface="American Typewriter" panose="02090604020004020304" pitchFamily="18" charset="77"/>
              </a:rPr>
              <a:t>nieuwe</a:t>
            </a:r>
            <a:r>
              <a:rPr lang="en-GB" sz="900" dirty="0">
                <a:latin typeface="American Typewriter" panose="02090604020004020304" pitchFamily="18" charset="77"/>
              </a:rPr>
              <a:t> features.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Vaak </a:t>
            </a:r>
            <a:r>
              <a:rPr lang="en-GB" sz="900" dirty="0" err="1">
                <a:latin typeface="American Typewriter" panose="02090604020004020304" pitchFamily="18" charset="77"/>
              </a:rPr>
              <a:t>meer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kant-en-klare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templates.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Aandachtspunten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Data-</a:t>
            </a:r>
            <a:r>
              <a:rPr lang="en-GB" sz="900" dirty="0" err="1">
                <a:latin typeface="American Typewriter" panose="02090604020004020304" pitchFamily="18" charset="77"/>
              </a:rPr>
              <a:t>residentie</a:t>
            </a:r>
            <a:r>
              <a:rPr lang="en-GB" sz="900" dirty="0">
                <a:latin typeface="American Typewriter" panose="02090604020004020304" pitchFamily="18" charset="77"/>
              </a:rPr>
              <a:t>, privacy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compliance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juridisch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technisch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getoetst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Vendor-lock-in </a:t>
            </a:r>
            <a:r>
              <a:rPr lang="en-GB" sz="900" dirty="0" err="1">
                <a:latin typeface="American Typewriter" panose="02090604020004020304" pitchFamily="18" charset="77"/>
              </a:rPr>
              <a:t>mitigeren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goede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exportmogelijkheden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b="1" dirty="0">
                <a:latin typeface="American Typewriter" panose="02090604020004020304" pitchFamily="18" charset="77"/>
              </a:rPr>
              <a:t> (on-premise of SURF-</a:t>
            </a:r>
            <a:r>
              <a:rPr lang="en-GB" sz="900" b="1" dirty="0" err="1">
                <a:latin typeface="American Typewriter" panose="02090604020004020304" pitchFamily="18" charset="77"/>
              </a:rPr>
              <a:t>gehoste</a:t>
            </a:r>
            <a:r>
              <a:rPr lang="en-GB" sz="900" b="1" dirty="0">
                <a:latin typeface="American Typewriter" panose="02090604020004020304" pitchFamily="18" charset="77"/>
              </a:rPr>
              <a:t>)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Volledige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controle</a:t>
            </a:r>
            <a:r>
              <a:rPr lang="en-GB" sz="900" dirty="0">
                <a:latin typeface="American Typewriter" panose="02090604020004020304" pitchFamily="18" charset="77"/>
              </a:rPr>
              <a:t> over data-</a:t>
            </a:r>
            <a:r>
              <a:rPr lang="en-GB" sz="900" dirty="0" err="1">
                <a:latin typeface="American Typewriter" panose="02090604020004020304" pitchFamily="18" charset="77"/>
              </a:rPr>
              <a:t>locatie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bestaande</a:t>
            </a:r>
            <a:r>
              <a:rPr lang="en-GB" sz="900" dirty="0">
                <a:latin typeface="American Typewriter" panose="02090604020004020304" pitchFamily="18" charset="77"/>
              </a:rPr>
              <a:t> on-premise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Aandachtspunten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Hogere</a:t>
            </a:r>
            <a:r>
              <a:rPr lang="en-GB" sz="900" dirty="0">
                <a:latin typeface="American Typewriter" panose="02090604020004020304" pitchFamily="18" charset="77"/>
              </a:rPr>
              <a:t> interne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infrastructuurkosten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Grotere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kans</a:t>
            </a:r>
            <a:r>
              <a:rPr lang="en-GB" sz="900" dirty="0">
                <a:latin typeface="American Typewriter" panose="02090604020004020304" pitchFamily="18" charset="77"/>
              </a:rPr>
              <a:t> op </a:t>
            </a:r>
            <a:r>
              <a:rPr lang="en-GB" sz="900" dirty="0" err="1">
                <a:latin typeface="American Typewriter" panose="02090604020004020304" pitchFamily="18" charset="77"/>
              </a:rPr>
              <a:t>achterstand</a:t>
            </a:r>
            <a:r>
              <a:rPr lang="en-GB" sz="900" dirty="0">
                <a:latin typeface="American Typewriter" panose="02090604020004020304" pitchFamily="18" charset="77"/>
              </a:rPr>
              <a:t> in features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updates.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 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 err="1">
                <a:latin typeface="American Typewriter" panose="02090604020004020304" pitchFamily="18" charset="77"/>
              </a:rPr>
              <a:t>Samenvattende</a:t>
            </a:r>
            <a:r>
              <a:rPr lang="en-GB" sz="900" b="1" dirty="0">
                <a:latin typeface="American Typewriter" panose="02090604020004020304" pitchFamily="18" charset="77"/>
              </a:rPr>
              <a:t> requirement-</a:t>
            </a:r>
            <a:r>
              <a:rPr lang="en-GB" sz="900" b="1" dirty="0" err="1">
                <a:latin typeface="American Typewriter" panose="02090604020004020304" pitchFamily="18" charset="77"/>
              </a:rPr>
              <a:t>conclusie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 die: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laagdrempelig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laten </a:t>
            </a:r>
            <a:r>
              <a:rPr lang="en-GB" sz="900" dirty="0" err="1">
                <a:latin typeface="American Typewriter" panose="02090604020004020304" pitchFamily="18" charset="77"/>
              </a:rPr>
              <a:t>werken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CI/CD,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sites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>
                <a:latin typeface="American Typewriter" panose="02090604020004020304" pitchFamily="18" charset="77"/>
              </a:rPr>
              <a:t>open-science</a:t>
            </a:r>
            <a:r>
              <a:rPr lang="en-GB" sz="900" dirty="0">
                <a:latin typeface="American Typewriter" panose="02090604020004020304" pitchFamily="18" charset="77"/>
              </a:rPr>
              <a:t>-</a:t>
            </a:r>
            <a:r>
              <a:rPr lang="en-GB" sz="900" dirty="0" err="1">
                <a:latin typeface="American Typewriter" panose="02090604020004020304" pitchFamily="18" charset="77"/>
              </a:rPr>
              <a:t>eisen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invullen</a:t>
            </a:r>
            <a:r>
              <a:rPr lang="en-GB" sz="900" dirty="0">
                <a:latin typeface="American Typewriter" panose="02090604020004020304" pitchFamily="18" charset="77"/>
              </a:rPr>
              <a:t> (citable code via DOI),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de interne </a:t>
            </a:r>
            <a:r>
              <a:rPr lang="en-GB" sz="900" dirty="0" err="1">
                <a:latin typeface="American Typewriter" panose="02090604020004020304" pitchFamily="18" charset="77"/>
              </a:rPr>
              <a:t>beheerlast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beperken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is in de </a:t>
            </a:r>
            <a:r>
              <a:rPr lang="en-GB" sz="900" dirty="0" err="1">
                <a:latin typeface="American Typewriter" panose="02090604020004020304" pitchFamily="18" charset="77"/>
              </a:rPr>
              <a:t>praktijk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ontwikkel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met: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UI/UX,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ecosysteem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aan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met DOI-</a:t>
            </a:r>
            <a:r>
              <a:rPr lang="en-GB" sz="900" dirty="0" err="1">
                <a:latin typeface="American Typewriter" panose="02090604020004020304" pitchFamily="18" charset="77"/>
              </a:rPr>
              <a:t>uitgevende</a:t>
            </a:r>
            <a:r>
              <a:rPr lang="en-GB" sz="900" dirty="0">
                <a:latin typeface="American Typewriter" panose="02090604020004020304" pitchFamily="18" charset="77"/>
              </a:rPr>
              <a:t> repositories</a:t>
            </a:r>
          </a:p>
          <a:p>
            <a:pPr>
              <a:buNone/>
            </a:pPr>
            <a:r>
              <a:rPr lang="en-GB" sz="900" dirty="0" err="1">
                <a:latin typeface="American Typewriter" panose="02090604020004020304" pitchFamily="18" charset="77"/>
              </a:rPr>
              <a:t>functioneel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financieel</a:t>
            </a:r>
            <a:r>
              <a:rPr lang="en-GB" sz="900" dirty="0">
                <a:latin typeface="American Typewriter" panose="02090604020004020304" pitchFamily="18" charset="77"/>
              </a:rPr>
              <a:t> het </a:t>
            </a:r>
            <a:r>
              <a:rPr lang="en-GB" sz="900" dirty="0" err="1">
                <a:latin typeface="American Typewriter" panose="02090604020004020304" pitchFamily="18" charset="77"/>
              </a:rPr>
              <a:t>meest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logisch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vertrekpunt</a:t>
            </a:r>
            <a:r>
              <a:rPr lang="en-GB" sz="900" dirty="0">
                <a:latin typeface="American Typewriter" panose="02090604020004020304" pitchFamily="18" charset="77"/>
              </a:rPr>
              <a:t>. Een </a:t>
            </a: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oplossing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blijft</a:t>
            </a:r>
            <a:r>
              <a:rPr lang="en-GB" sz="900" dirty="0">
                <a:latin typeface="American Typewriter" panose="02090604020004020304" pitchFamily="18" charset="77"/>
              </a:rPr>
              <a:t> relevant </a:t>
            </a:r>
            <a:r>
              <a:rPr lang="en-GB" sz="900" dirty="0" err="1">
                <a:latin typeface="American Typewriter" panose="02090604020004020304" pitchFamily="18" charset="77"/>
              </a:rPr>
              <a:t>als</a:t>
            </a:r>
            <a:r>
              <a:rPr lang="en-GB" sz="900" dirty="0">
                <a:latin typeface="American Typewriter" panose="02090604020004020304" pitchFamily="18" charset="77"/>
              </a:rPr>
              <a:t> er </a:t>
            </a:r>
            <a:r>
              <a:rPr lang="en-GB" sz="900" b="1" dirty="0" err="1">
                <a:latin typeface="American Typewriter" panose="02090604020004020304" pitchFamily="18" charset="77"/>
              </a:rPr>
              <a:t>harde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eisen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data-</a:t>
            </a:r>
            <a:r>
              <a:rPr lang="en-GB" sz="900" dirty="0" err="1">
                <a:latin typeface="American Typewriter" panose="02090604020004020304" pitchFamily="18" charset="77"/>
              </a:rPr>
              <a:t>locatie</a:t>
            </a:r>
            <a:r>
              <a:rPr lang="en-GB" sz="900" dirty="0">
                <a:latin typeface="American Typewriter" panose="02090604020004020304" pitchFamily="18" charset="77"/>
              </a:rPr>
              <a:t>, air-gapped </a:t>
            </a:r>
            <a:r>
              <a:rPr lang="en-GB" sz="900" dirty="0" err="1">
                <a:latin typeface="American Typewriter" panose="02090604020004020304" pitchFamily="18" charset="77"/>
              </a:rPr>
              <a:t>omgevingen</a:t>
            </a:r>
            <a:r>
              <a:rPr lang="en-GB" sz="900" dirty="0">
                <a:latin typeface="American Typewriter" panose="02090604020004020304" pitchFamily="18" charset="77"/>
              </a:rPr>
              <a:t> of </a:t>
            </a:r>
            <a:r>
              <a:rPr lang="en-GB" sz="900" dirty="0" err="1">
                <a:latin typeface="American Typewriter" panose="02090604020004020304" pitchFamily="18" charset="77"/>
              </a:rPr>
              <a:t>specifieke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integraties</a:t>
            </a:r>
            <a:r>
              <a:rPr lang="en-GB" sz="900" dirty="0">
                <a:latin typeface="American Typewriter" panose="02090604020004020304" pitchFamily="18" charset="77"/>
              </a:rPr>
              <a:t>, maar </a:t>
            </a:r>
            <a:r>
              <a:rPr lang="en-GB" sz="900" dirty="0" err="1">
                <a:latin typeface="American Typewriter" panose="02090604020004020304" pitchFamily="18" charset="77"/>
              </a:rPr>
              <a:t>vraagt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expliciete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keuzes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extra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-FTE’s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budget.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46D27-893A-197D-0A8B-51B61D68B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34" y="356914"/>
            <a:ext cx="4857706" cy="39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9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7368-976A-2EFC-C213-BD5397E8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586CE6-93A6-9E0B-ADEB-79AE88F2AF61}"/>
              </a:ext>
            </a:extLst>
          </p:cNvPr>
          <p:cNvSpPr txBox="1"/>
          <p:nvPr/>
        </p:nvSpPr>
        <p:spPr>
          <a:xfrm>
            <a:off x="3048000" y="-26114923"/>
            <a:ext cx="6096000" cy="2183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900" b="1" dirty="0" err="1">
                <a:latin typeface="American Typewriter" panose="02090604020004020304" pitchFamily="18" charset="77"/>
              </a:rPr>
              <a:t>Requirementanalyse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CI/CD-platform</a:t>
            </a:r>
            <a:br>
              <a:rPr lang="en-GB" sz="900" dirty="0">
                <a:latin typeface="American Typewriter" panose="02090604020004020304" pitchFamily="18" charset="77"/>
              </a:rPr>
            </a:br>
            <a:r>
              <a:rPr lang="en-GB" sz="900" b="1" dirty="0" err="1">
                <a:latin typeface="American Typewriter" panose="02090604020004020304" pitchFamily="18" charset="77"/>
              </a:rPr>
              <a:t>voor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onderwijs</a:t>
            </a:r>
            <a:r>
              <a:rPr lang="en-GB" sz="900" b="1" dirty="0">
                <a:latin typeface="American Typewriter" panose="02090604020004020304" pitchFamily="18" charset="77"/>
              </a:rPr>
              <a:t>, </a:t>
            </a:r>
            <a:r>
              <a:rPr lang="en-GB" sz="900" b="1" dirty="0" err="1">
                <a:latin typeface="American Typewriter" panose="02090604020004020304" pitchFamily="18" charset="77"/>
              </a:rPr>
              <a:t>onderzoek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datagedreven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projecten</a:t>
            </a:r>
            <a:r>
              <a:rPr lang="en-GB" sz="900" b="1" dirty="0">
                <a:latin typeface="American Typewriter" panose="02090604020004020304" pitchFamily="18" charset="77"/>
              </a:rPr>
              <a:t> (2025)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1. Doel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context</a:t>
            </a:r>
          </a:p>
          <a:p>
            <a:pPr>
              <a:buNone/>
            </a:pPr>
            <a:r>
              <a:rPr lang="en-GB" sz="900" dirty="0" err="1">
                <a:latin typeface="American Typewriter" panose="02090604020004020304" pitchFamily="18" charset="77"/>
              </a:rPr>
              <a:t>Deze</a:t>
            </a:r>
            <a:r>
              <a:rPr lang="en-GB" sz="900" dirty="0">
                <a:latin typeface="American Typewriter" panose="02090604020004020304" pitchFamily="18" charset="77"/>
              </a:rPr>
              <a:t> analyse </a:t>
            </a:r>
            <a:r>
              <a:rPr lang="en-GB" sz="900" dirty="0" err="1">
                <a:latin typeface="American Typewriter" panose="02090604020004020304" pitchFamily="18" charset="77"/>
              </a:rPr>
              <a:t>beschrijft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functionele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niet-functionele</a:t>
            </a:r>
            <a:r>
              <a:rPr lang="en-GB" sz="900" dirty="0">
                <a:latin typeface="American Typewriter" panose="02090604020004020304" pitchFamily="18" charset="77"/>
              </a:rPr>
              <a:t> requirements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moderne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van code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onderzoeksdata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>
                <a:latin typeface="American Typewriter" panose="02090604020004020304" pitchFamily="18" charset="77"/>
              </a:rPr>
              <a:t>CI/CD-pipelines,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>
                <a:latin typeface="American Typewriter" panose="02090604020004020304" pitchFamily="18" charset="77"/>
              </a:rPr>
              <a:t>hosting van </a:t>
            </a:r>
            <a:r>
              <a:rPr lang="en-GB" sz="900" dirty="0" err="1">
                <a:latin typeface="American Typewriter" panose="02090604020004020304" pitchFamily="18" charset="77"/>
              </a:rPr>
              <a:t>eenvoudige</a:t>
            </a:r>
            <a:r>
              <a:rPr lang="en-GB" sz="900" dirty="0">
                <a:latin typeface="American Typewriter" panose="02090604020004020304" pitchFamily="18" charset="77"/>
              </a:rPr>
              <a:t> websites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cursus-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projectpagina’s</a:t>
            </a:r>
            <a:r>
              <a:rPr lang="en-GB" sz="900" dirty="0">
                <a:latin typeface="American Typewriter" panose="02090604020004020304" pitchFamily="18" charset="77"/>
              </a:rPr>
              <a:t>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van open science (</a:t>
            </a:r>
            <a:r>
              <a:rPr lang="en-GB" sz="900" dirty="0" err="1">
                <a:latin typeface="American Typewriter" panose="02090604020004020304" pitchFamily="18" charset="77"/>
              </a:rPr>
              <a:t>herbruikbare</a:t>
            </a:r>
            <a:r>
              <a:rPr lang="en-GB" sz="900" dirty="0">
                <a:latin typeface="American Typewriter" panose="02090604020004020304" pitchFamily="18" charset="77"/>
              </a:rPr>
              <a:t>, citable code).</a:t>
            </a: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 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 </a:t>
            </a:r>
            <a:r>
              <a:rPr lang="en-GB" sz="900" b="1" dirty="0" err="1">
                <a:latin typeface="American Typewriter" panose="02090604020004020304" pitchFamily="18" charset="77"/>
              </a:rPr>
              <a:t>Functionele</a:t>
            </a:r>
            <a:r>
              <a:rPr lang="en-GB" sz="900" b="1" dirty="0">
                <a:latin typeface="American Typewriter" panose="02090604020004020304" pitchFamily="18" charset="77"/>
              </a:rPr>
              <a:t> requirements</a:t>
            </a: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2.1 Repositories &amp; </a:t>
            </a:r>
            <a:r>
              <a:rPr lang="en-GB" sz="900" b="1" dirty="0" err="1">
                <a:latin typeface="American Typewriter" panose="02090604020004020304" pitchFamily="18" charset="77"/>
              </a:rPr>
              <a:t>samenwerking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Versiebeheer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distributed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ondersteunen</a:t>
            </a:r>
            <a:r>
              <a:rPr lang="en-GB" sz="900" dirty="0">
                <a:latin typeface="American Typewriter" panose="02090604020004020304" pitchFamily="18" charset="77"/>
              </a:rPr>
              <a:t> (Git-</a:t>
            </a:r>
            <a:r>
              <a:rPr lang="en-GB" sz="900" dirty="0" err="1">
                <a:latin typeface="American Typewriter" panose="02090604020004020304" pitchFamily="18" charset="77"/>
              </a:rPr>
              <a:t>compatibel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Moet </a:t>
            </a:r>
            <a:r>
              <a:rPr lang="en-GB" sz="900" dirty="0" err="1">
                <a:latin typeface="American Typewriter" panose="02090604020004020304" pitchFamily="18" charset="77"/>
              </a:rPr>
              <a:t>geschikte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bieden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zowel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kleine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als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monorepo’s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data pipelines).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Samenwerking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pull/merge requests, code-reviews, inline </a:t>
            </a:r>
            <a:r>
              <a:rPr lang="en-GB" sz="900" dirty="0" err="1">
                <a:latin typeface="American Typewriter" panose="02090604020004020304" pitchFamily="18" charset="77"/>
              </a:rPr>
              <a:t>opmerkingen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bescherming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hoofdbranches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Mogelijkheid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rechten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fijnmazig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stellen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onderzoekers</a:t>
            </a:r>
            <a:r>
              <a:rPr lang="en-GB" sz="900" dirty="0">
                <a:latin typeface="American Typewriter" panose="02090604020004020304" pitchFamily="18" charset="77"/>
              </a:rPr>
              <a:t>, externe partners).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2.2 </a:t>
            </a:r>
            <a:r>
              <a:rPr lang="en-GB" sz="900" b="1" dirty="0" err="1">
                <a:latin typeface="American Typewriter" panose="02090604020004020304" pitchFamily="18" charset="77"/>
              </a:rPr>
              <a:t>Publicatie</a:t>
            </a:r>
            <a:r>
              <a:rPr lang="en-GB" sz="900" b="1" dirty="0">
                <a:latin typeface="American Typewriter" panose="02090604020004020304" pitchFamily="18" charset="77"/>
              </a:rPr>
              <a:t> van </a:t>
            </a: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websites</a:t>
            </a:r>
          </a:p>
          <a:p>
            <a:pPr>
              <a:buFont typeface="+mj-lt"/>
              <a:buAutoNum type="arabicPeriod" startAt="3"/>
            </a:pPr>
            <a:r>
              <a:rPr lang="en-GB" sz="900" b="1" dirty="0" err="1">
                <a:latin typeface="American Typewriter" panose="02090604020004020304" pitchFamily="18" charset="77"/>
              </a:rPr>
              <a:t>Eenvoudige</a:t>
            </a:r>
            <a:r>
              <a:rPr lang="en-GB" sz="900" b="1" dirty="0">
                <a:latin typeface="American Typewriter" panose="02090604020004020304" pitchFamily="18" charset="77"/>
              </a:rPr>
              <a:t> hosting van </a:t>
            </a: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sites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zónder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complexe</a:t>
            </a:r>
            <a:r>
              <a:rPr lang="en-GB" sz="900" dirty="0">
                <a:latin typeface="American Typewriter" panose="02090604020004020304" pitchFamily="18" charset="77"/>
              </a:rPr>
              <a:t> CI-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statische</a:t>
            </a:r>
            <a:r>
              <a:rPr lang="en-GB" sz="900" dirty="0">
                <a:latin typeface="American Typewriter" panose="02090604020004020304" pitchFamily="18" charset="77"/>
              </a:rPr>
              <a:t> website </a:t>
            </a:r>
            <a:r>
              <a:rPr lang="en-GB" sz="900" dirty="0" err="1">
                <a:latin typeface="American Typewriter" panose="02090604020004020304" pitchFamily="18" charset="77"/>
              </a:rPr>
              <a:t>uit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repository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door in de UI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branch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map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kiezen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gevorderde</a:t>
            </a:r>
            <a:r>
              <a:rPr lang="en-GB" sz="900" dirty="0">
                <a:latin typeface="American Typewriter" panose="02090604020004020304" pitchFamily="18" charset="77"/>
              </a:rPr>
              <a:t> use-cases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het </a:t>
            </a:r>
            <a:r>
              <a:rPr lang="en-GB" sz="900" dirty="0" err="1">
                <a:latin typeface="American Typewriter" panose="02090604020004020304" pitchFamily="18" charset="77"/>
              </a:rPr>
              <a:t>wél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mogelijk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publicatie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pipeline (YAML </a:t>
            </a:r>
            <a:r>
              <a:rPr lang="en-GB" sz="900" dirty="0" err="1">
                <a:latin typeface="American Typewriter" panose="02090604020004020304" pitchFamily="18" charset="77"/>
              </a:rPr>
              <a:t>e.d.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automatiseren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3"/>
            </a:pPr>
            <a:r>
              <a:rPr lang="en-GB" sz="900" b="1" dirty="0" err="1">
                <a:latin typeface="American Typewriter" panose="02090604020004020304" pitchFamily="18" charset="77"/>
              </a:rPr>
              <a:t>Automatische</a:t>
            </a:r>
            <a:r>
              <a:rPr lang="en-GB" sz="900" b="1" dirty="0">
                <a:latin typeface="American Typewriter" panose="02090604020004020304" pitchFamily="18" charset="77"/>
              </a:rPr>
              <a:t> build &amp; deploy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3"/>
            </a:pPr>
            <a:r>
              <a:rPr lang="en-GB" sz="900" dirty="0">
                <a:latin typeface="American Typewriter" panose="02090604020004020304" pitchFamily="18" charset="77"/>
              </a:rPr>
              <a:t>Template-</a:t>
            </a: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stacks (HTML/CSS/JS, </a:t>
            </a:r>
            <a:r>
              <a:rPr lang="en-GB" sz="900" dirty="0" err="1">
                <a:latin typeface="American Typewriter" panose="02090604020004020304" pitchFamily="18" charset="77"/>
              </a:rPr>
              <a:t>standaard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documentatie-generatoren</a:t>
            </a:r>
            <a:r>
              <a:rPr lang="en-GB" sz="900" dirty="0">
                <a:latin typeface="American Typewriter" panose="02090604020004020304" pitchFamily="18" charset="77"/>
              </a:rPr>
              <a:t>) om de </a:t>
            </a:r>
            <a:r>
              <a:rPr lang="en-GB" sz="900" dirty="0" err="1">
                <a:latin typeface="American Typewriter" panose="02090604020004020304" pitchFamily="18" charset="77"/>
              </a:rPr>
              <a:t>drempel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verlagen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2.3 CI/CD &amp; workflow-</a:t>
            </a:r>
            <a:r>
              <a:rPr lang="en-GB" sz="900" b="1" dirty="0" err="1">
                <a:latin typeface="American Typewriter" panose="02090604020004020304" pitchFamily="18" charset="77"/>
              </a:rPr>
              <a:t>automatisering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5"/>
            </a:pPr>
            <a:r>
              <a:rPr lang="en-GB" sz="900" b="1" dirty="0">
                <a:latin typeface="American Typewriter" panose="02090604020004020304" pitchFamily="18" charset="77"/>
              </a:rPr>
              <a:t>CI/CD-templates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“</a:t>
            </a:r>
            <a:r>
              <a:rPr lang="en-GB" sz="900" b="1" dirty="0" err="1">
                <a:latin typeface="American Typewriter" panose="02090604020004020304" pitchFamily="18" charset="77"/>
              </a:rPr>
              <a:t>marktplaats</a:t>
            </a:r>
            <a:r>
              <a:rPr lang="en-GB" sz="900" b="1" dirty="0">
                <a:latin typeface="American Typewriter" panose="02090604020004020304" pitchFamily="18" charset="77"/>
              </a:rPr>
              <a:t>”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ruime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collectie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herbruikbare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bouwstenen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CI/CD </a:t>
            </a:r>
            <a:r>
              <a:rPr lang="en-GB" sz="900" dirty="0" err="1">
                <a:latin typeface="American Typewriter" panose="02090604020004020304" pitchFamily="18" charset="77"/>
              </a:rPr>
              <a:t>bieden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testen</a:t>
            </a:r>
            <a:r>
              <a:rPr lang="en-GB" sz="900" dirty="0">
                <a:latin typeface="American Typewriter" panose="02090604020004020304" pitchFamily="18" charset="77"/>
              </a:rPr>
              <a:t>, linters, security-scans, build &amp; deploy).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minimale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standaardpipeline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activeren</a:t>
            </a:r>
            <a:r>
              <a:rPr lang="en-GB" sz="900" dirty="0">
                <a:latin typeface="American Typewriter" panose="02090604020004020304" pitchFamily="18" charset="77"/>
              </a:rPr>
              <a:t> op basis van templates of “plug-and-play”-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naast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mogelijkheid</a:t>
            </a:r>
            <a:r>
              <a:rPr lang="en-GB" sz="900" dirty="0">
                <a:latin typeface="American Typewriter" panose="02090604020004020304" pitchFamily="18" charset="77"/>
              </a:rPr>
              <a:t> om eigen scripts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schrijven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5"/>
            </a:pPr>
            <a:r>
              <a:rPr lang="en-GB" sz="900" b="1" dirty="0" err="1">
                <a:latin typeface="American Typewriter" panose="02090604020004020304" pitchFamily="18" charset="77"/>
              </a:rPr>
              <a:t>Schaling</a:t>
            </a:r>
            <a:r>
              <a:rPr lang="en-GB" sz="900" b="1" dirty="0">
                <a:latin typeface="American Typewriter" panose="02090604020004020304" pitchFamily="18" charset="77"/>
              </a:rPr>
              <a:t> &amp; minutes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voldoende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capaciteit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onderzoeksgebruik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pieken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deadlines).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GB" sz="900" dirty="0" err="1">
                <a:latin typeface="American Typewriter" panose="02090604020004020304" pitchFamily="18" charset="77"/>
              </a:rPr>
              <a:t>Heldere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limieten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bijkoop</a:t>
            </a:r>
            <a:r>
              <a:rPr lang="en-GB" sz="900" dirty="0">
                <a:latin typeface="American Typewriter" panose="02090604020004020304" pitchFamily="18" charset="77"/>
              </a:rPr>
              <a:t> van extra compute- of pipeline-</a:t>
            </a:r>
            <a:r>
              <a:rPr lang="en-GB" sz="900" dirty="0" err="1">
                <a:latin typeface="American Typewriter" panose="02090604020004020304" pitchFamily="18" charset="77"/>
              </a:rPr>
              <a:t>minuten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2.4 Open science, </a:t>
            </a:r>
            <a:r>
              <a:rPr lang="en-GB" sz="900" b="1" dirty="0" err="1">
                <a:latin typeface="American Typewriter" panose="02090604020004020304" pitchFamily="18" charset="77"/>
              </a:rPr>
              <a:t>publicatie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archivering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7"/>
            </a:pPr>
            <a:r>
              <a:rPr lang="en-GB" sz="900" b="1" dirty="0" err="1">
                <a:latin typeface="American Typewriter" panose="02090604020004020304" pitchFamily="18" charset="77"/>
              </a:rPr>
              <a:t>Koppelvlak</a:t>
            </a:r>
            <a:r>
              <a:rPr lang="en-GB" sz="900" b="1" dirty="0">
                <a:latin typeface="American Typewriter" panose="02090604020004020304" pitchFamily="18" charset="77"/>
              </a:rPr>
              <a:t> met open-science repositories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koppelen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externe </a:t>
            </a:r>
            <a:r>
              <a:rPr lang="en-GB" sz="900" dirty="0" err="1">
                <a:latin typeface="American Typewriter" panose="02090604020004020304" pitchFamily="18" charset="77"/>
              </a:rPr>
              <a:t>onderzoeksrepository</a:t>
            </a:r>
            <a:r>
              <a:rPr lang="en-GB" sz="900" dirty="0">
                <a:latin typeface="American Typewriter" panose="02090604020004020304" pitchFamily="18" charset="77"/>
              </a:rPr>
              <a:t> die </a:t>
            </a:r>
            <a:r>
              <a:rPr lang="en-GB" sz="900" b="1" dirty="0">
                <a:latin typeface="American Typewriter" panose="02090604020004020304" pitchFamily="18" charset="77"/>
              </a:rPr>
              <a:t>DOI’s (Digital Object Identifiers)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uitgeven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Bij het </a:t>
            </a:r>
            <a:r>
              <a:rPr lang="en-GB" sz="900" dirty="0" err="1">
                <a:latin typeface="American Typewriter" panose="02090604020004020304" pitchFamily="18" charset="77"/>
              </a:rPr>
              <a:t>maken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“release” van code of data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automatisch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versie</a:t>
            </a:r>
            <a:r>
              <a:rPr lang="en-GB" sz="900" dirty="0">
                <a:latin typeface="American Typewriter" panose="02090604020004020304" pitchFamily="18" charset="77"/>
              </a:rPr>
              <a:t> met DOI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vastgelegd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zodat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publicaties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wetenschappelijke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tijdschriften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verwijzen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naar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stabiel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archief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7"/>
            </a:pPr>
            <a:r>
              <a:rPr lang="en-GB" sz="900" b="1" dirty="0" err="1">
                <a:latin typeface="American Typewriter" panose="02090604020004020304" pitchFamily="18" charset="77"/>
              </a:rPr>
              <a:t>Langetermijnarchivering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Export van repositories (code + metadata) </a:t>
            </a:r>
            <a:r>
              <a:rPr lang="en-GB" sz="900" dirty="0" err="1">
                <a:latin typeface="American Typewriter" panose="02090604020004020304" pitchFamily="18" charset="77"/>
              </a:rPr>
              <a:t>naar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archiefsystemen</a:t>
            </a:r>
            <a:r>
              <a:rPr lang="en-GB" sz="900" dirty="0">
                <a:latin typeface="American Typewriter" panose="02090604020004020304" pitchFamily="18" charset="77"/>
              </a:rPr>
              <a:t> van de </a:t>
            </a:r>
            <a:r>
              <a:rPr lang="en-GB" sz="900" dirty="0" err="1">
                <a:latin typeface="American Typewriter" panose="02090604020004020304" pitchFamily="18" charset="77"/>
              </a:rPr>
              <a:t>instelling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mogelijk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GB" sz="900" dirty="0">
                <a:latin typeface="American Typewriter" panose="02090604020004020304" pitchFamily="18" charset="77"/>
              </a:rPr>
              <a:t>Metadata (auteurs, </a:t>
            </a:r>
            <a:r>
              <a:rPr lang="en-GB" sz="900" dirty="0" err="1">
                <a:latin typeface="American Typewriter" panose="02090604020004020304" pitchFamily="18" charset="77"/>
              </a:rPr>
              <a:t>versies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licenties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machine-</a:t>
            </a:r>
            <a:r>
              <a:rPr lang="en-GB" sz="900" dirty="0" err="1">
                <a:latin typeface="American Typewriter" panose="02090604020004020304" pitchFamily="18" charset="77"/>
              </a:rPr>
              <a:t>leesbaar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indexering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citatie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2.5 </a:t>
            </a:r>
            <a:r>
              <a:rPr lang="en-GB" sz="900" b="1" dirty="0" err="1">
                <a:latin typeface="American Typewriter" panose="02090604020004020304" pitchFamily="18" charset="77"/>
              </a:rPr>
              <a:t>Integraties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ecosysteem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9"/>
            </a:pPr>
            <a:r>
              <a:rPr lang="en-GB" sz="900" b="1" dirty="0" err="1">
                <a:latin typeface="American Typewriter" panose="02090604020004020304" pitchFamily="18" charset="77"/>
              </a:rPr>
              <a:t>Integraties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 err="1">
                <a:latin typeface="American Typewriter" panose="02090604020004020304" pitchFamily="18" charset="77"/>
              </a:rPr>
              <a:t>Beschikbare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integraties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ontwikkeltools</a:t>
            </a:r>
            <a:r>
              <a:rPr lang="en-GB" sz="900" dirty="0">
                <a:latin typeface="American Typewriter" panose="02090604020004020304" pitchFamily="18" charset="77"/>
              </a:rPr>
              <a:t>, issue-trackers, identity-providers (SSO),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data-</a:t>
            </a:r>
            <a:r>
              <a:rPr lang="en-GB" sz="900" dirty="0" err="1">
                <a:latin typeface="American Typewriter" panose="02090604020004020304" pitchFamily="18" charset="77"/>
              </a:rPr>
              <a:t>platformen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cloud-</a:t>
            </a:r>
            <a:r>
              <a:rPr lang="en-GB" sz="900" dirty="0" err="1">
                <a:latin typeface="American Typewriter" panose="02090604020004020304" pitchFamily="18" charset="77"/>
              </a:rPr>
              <a:t>opslag</a:t>
            </a:r>
            <a:r>
              <a:rPr lang="en-GB" sz="900" dirty="0">
                <a:latin typeface="American Typewriter" panose="02090604020004020304" pitchFamily="18" charset="77"/>
              </a:rPr>
              <a:t>, data-warehouses).</a:t>
            </a: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>
                <a:latin typeface="American Typewriter" panose="02090604020004020304" pitchFamily="18" charset="77"/>
              </a:rPr>
              <a:t>API’s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webhooks om </a:t>
            </a:r>
            <a:r>
              <a:rPr lang="en-GB" sz="900" dirty="0" err="1">
                <a:latin typeface="American Typewriter" panose="02090604020004020304" pitchFamily="18" charset="77"/>
              </a:rPr>
              <a:t>maatwerk-integraties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bouwen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bijvoorbeeld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onderzoeksadministratie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>
              <a:buFont typeface="+mj-lt"/>
              <a:buAutoNum type="arabicPeriod" startAt="9"/>
            </a:pPr>
            <a:r>
              <a:rPr lang="en-GB" sz="900" b="1" dirty="0" err="1">
                <a:latin typeface="American Typewriter" panose="02090604020004020304" pitchFamily="18" charset="77"/>
              </a:rPr>
              <a:t>Ecosysteem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9"/>
            </a:pPr>
            <a:r>
              <a:rPr lang="en-GB" sz="900" dirty="0" err="1">
                <a:latin typeface="American Typewriter" panose="02090604020004020304" pitchFamily="18" charset="77"/>
              </a:rPr>
              <a:t>Beschikbaarheid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groot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ecosysteem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actieve</a:t>
            </a:r>
            <a:r>
              <a:rPr lang="en-GB" sz="900" dirty="0">
                <a:latin typeface="American Typewriter" panose="02090604020004020304" pitchFamily="18" charset="77"/>
              </a:rPr>
              <a:t> community, plugins, </a:t>
            </a:r>
            <a:r>
              <a:rPr lang="en-GB" sz="900" dirty="0" err="1">
                <a:latin typeface="American Typewriter" panose="02090604020004020304" pitchFamily="18" charset="77"/>
              </a:rPr>
              <a:t>voorbeeld</a:t>
            </a:r>
            <a:r>
              <a:rPr lang="en-GB" sz="900" dirty="0">
                <a:latin typeface="American Typewriter" panose="02090604020004020304" pitchFamily="18" charset="77"/>
              </a:rPr>
              <a:t>-workflows) om het </a:t>
            </a:r>
            <a:r>
              <a:rPr lang="en-GB" sz="900" dirty="0" err="1">
                <a:latin typeface="American Typewriter" panose="02090604020004020304" pitchFamily="18" charset="77"/>
              </a:rPr>
              <a:t>opzetten</a:t>
            </a:r>
            <a:r>
              <a:rPr lang="en-GB" sz="900" dirty="0">
                <a:latin typeface="American Typewriter" panose="02090604020004020304" pitchFamily="18" charset="77"/>
              </a:rPr>
              <a:t> van pipelines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onderwijsvoorbeelden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versnellen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 </a:t>
            </a:r>
            <a:r>
              <a:rPr lang="en-GB" sz="900" b="1" dirty="0" err="1">
                <a:latin typeface="American Typewriter" panose="02090604020004020304" pitchFamily="18" charset="77"/>
              </a:rPr>
              <a:t>Niet-functionele</a:t>
            </a:r>
            <a:r>
              <a:rPr lang="en-GB" sz="900" b="1" dirty="0">
                <a:latin typeface="American Typewriter" panose="02090604020004020304" pitchFamily="18" charset="77"/>
              </a:rPr>
              <a:t> requirements</a:t>
            </a: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3.1 </a:t>
            </a:r>
            <a:r>
              <a:rPr lang="en-GB" sz="900" b="1" dirty="0" err="1">
                <a:latin typeface="American Typewriter" panose="02090604020004020304" pitchFamily="18" charset="77"/>
              </a:rPr>
              <a:t>Gebruiksvriendelijkheid</a:t>
            </a:r>
            <a:r>
              <a:rPr lang="en-GB" sz="900" b="1" dirty="0">
                <a:latin typeface="American Typewriter" panose="02090604020004020304" pitchFamily="18" charset="77"/>
              </a:rPr>
              <a:t> &amp; developer experience</a:t>
            </a:r>
          </a:p>
          <a:p>
            <a:pPr>
              <a:buFont typeface="+mj-lt"/>
              <a:buAutoNum type="arabicPeriod" startAt="11"/>
            </a:pPr>
            <a:r>
              <a:rPr lang="en-GB" sz="900" b="1" dirty="0" err="1">
                <a:latin typeface="American Typewriter" panose="02090604020004020304" pitchFamily="18" charset="77"/>
              </a:rPr>
              <a:t>Intuïtieve</a:t>
            </a:r>
            <a:r>
              <a:rPr lang="en-GB" sz="900" b="1" dirty="0">
                <a:latin typeface="American Typewriter" panose="02090604020004020304" pitchFamily="18" charset="77"/>
              </a:rPr>
              <a:t> UI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gebruikersinterface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overzichtelijk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eerste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kennismaking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),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onderzoekers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 marL="1143000" lvl="2" indent="-228600">
              <a:buFont typeface="+mj-lt"/>
              <a:buAutoNum type="arabicPeriod" startAt="11"/>
            </a:pPr>
            <a:r>
              <a:rPr lang="en-GB" sz="900" dirty="0">
                <a:latin typeface="American Typewriter" panose="02090604020004020304" pitchFamily="18" charset="77"/>
              </a:rPr>
              <a:t>DevOps-</a:t>
            </a:r>
            <a:r>
              <a:rPr lang="en-GB" sz="900" dirty="0" err="1">
                <a:latin typeface="American Typewriter" panose="02090604020004020304" pitchFamily="18" charset="77"/>
              </a:rPr>
              <a:t>specialisten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Veelgebruikte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functies</a:t>
            </a:r>
            <a:r>
              <a:rPr lang="en-GB" sz="900" dirty="0">
                <a:latin typeface="American Typewriter" panose="02090604020004020304" pitchFamily="18" charset="77"/>
              </a:rPr>
              <a:t> (repository </a:t>
            </a:r>
            <a:r>
              <a:rPr lang="en-GB" sz="900" dirty="0" err="1">
                <a:latin typeface="American Typewriter" panose="02090604020004020304" pitchFamily="18" charset="77"/>
              </a:rPr>
              <a:t>aanmaken</a:t>
            </a:r>
            <a:r>
              <a:rPr lang="en-GB" sz="900" dirty="0">
                <a:latin typeface="American Typewriter" panose="02090604020004020304" pitchFamily="18" charset="77"/>
              </a:rPr>
              <a:t>, website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, pipeline </a:t>
            </a:r>
            <a:r>
              <a:rPr lang="en-GB" sz="900" dirty="0" err="1">
                <a:latin typeface="American Typewriter" panose="02090604020004020304" pitchFamily="18" charset="77"/>
              </a:rPr>
              <a:t>starten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handleiding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vinden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1"/>
            </a:pPr>
            <a:r>
              <a:rPr lang="en-GB" sz="900" b="1" dirty="0">
                <a:latin typeface="American Typewriter" panose="02090604020004020304" pitchFamily="18" charset="77"/>
              </a:rPr>
              <a:t>Onboarding &amp; </a:t>
            </a:r>
            <a:r>
              <a:rPr lang="en-GB" sz="900" b="1" dirty="0" err="1">
                <a:latin typeface="American Typewriter" panose="02090604020004020304" pitchFamily="18" charset="77"/>
              </a:rPr>
              <a:t>documentatie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Duidelijke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documentatie</a:t>
            </a:r>
            <a:r>
              <a:rPr lang="en-GB" sz="900" dirty="0">
                <a:latin typeface="American Typewriter" panose="02090604020004020304" pitchFamily="18" charset="77"/>
              </a:rPr>
              <a:t>, tutorials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voorbeeldprojecten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1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-scenario’s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klasbrede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oefenopdrachten</a:t>
            </a:r>
            <a:r>
              <a:rPr lang="en-GB" sz="900" dirty="0">
                <a:latin typeface="American Typewriter" panose="02090604020004020304" pitchFamily="18" charset="77"/>
              </a:rPr>
              <a:t>, templates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minoren</a:t>
            </a:r>
            <a:r>
              <a:rPr lang="en-GB" sz="900" dirty="0">
                <a:latin typeface="American Typewriter" panose="02090604020004020304" pitchFamily="18" charset="77"/>
              </a:rPr>
              <a:t>).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3.2 </a:t>
            </a:r>
            <a:r>
              <a:rPr lang="en-GB" sz="900" b="1" dirty="0" err="1">
                <a:latin typeface="American Typewriter" panose="02090604020004020304" pitchFamily="18" charset="77"/>
              </a:rPr>
              <a:t>Betrouwbaarheid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beschikbaarheid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3"/>
            </a:pPr>
            <a:r>
              <a:rPr lang="en-GB" sz="900" b="1" dirty="0" err="1">
                <a:latin typeface="American Typewriter" panose="02090604020004020304" pitchFamily="18" charset="77"/>
              </a:rPr>
              <a:t>Beschikbaarheid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dirty="0">
                <a:latin typeface="American Typewriter" panose="02090604020004020304" pitchFamily="18" charset="77"/>
              </a:rPr>
              <a:t> variant: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SLA van </a:t>
            </a:r>
            <a:r>
              <a:rPr lang="en-GB" sz="900" dirty="0" err="1">
                <a:latin typeface="American Typewriter" panose="02090604020004020304" pitchFamily="18" charset="77"/>
              </a:rPr>
              <a:t>minimaal</a:t>
            </a:r>
            <a:r>
              <a:rPr lang="en-GB" sz="900" dirty="0">
                <a:latin typeface="American Typewriter" panose="02090604020004020304" pitchFamily="18" charset="77"/>
              </a:rPr>
              <a:t> 99,9% uptime, met </a:t>
            </a:r>
            <a:r>
              <a:rPr lang="en-GB" sz="900" dirty="0" err="1">
                <a:latin typeface="American Typewriter" panose="02090604020004020304" pitchFamily="18" charset="77"/>
              </a:rPr>
              <a:t>wereldwijde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beschikbaarheid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content delivery </a:t>
            </a:r>
            <a:r>
              <a:rPr lang="en-GB" sz="900" dirty="0" err="1">
                <a:latin typeface="American Typewriter" panose="02090604020004020304" pitchFamily="18" charset="77"/>
              </a:rPr>
              <a:t>netwerk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dirty="0">
                <a:latin typeface="American Typewriter" panose="02090604020004020304" pitchFamily="18" charset="77"/>
              </a:rPr>
              <a:t> variant: monitoring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redundantie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ingericht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zodat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uitval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beperkt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blijft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onderhoud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gepland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3"/>
            </a:pPr>
            <a:r>
              <a:rPr lang="en-GB" sz="900" b="1" dirty="0">
                <a:latin typeface="American Typewriter" panose="02090604020004020304" pitchFamily="18" charset="77"/>
              </a:rPr>
              <a:t>Updates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beveiliging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 err="1">
                <a:latin typeface="American Typewriter" panose="02090604020004020304" pitchFamily="18" charset="77"/>
              </a:rPr>
              <a:t>Cloudvariant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  <a:r>
              <a:rPr lang="en-GB" sz="900" dirty="0" err="1">
                <a:latin typeface="American Typewriter" panose="02090604020004020304" pitchFamily="18" charset="77"/>
              </a:rPr>
              <a:t>automatische</a:t>
            </a:r>
            <a:r>
              <a:rPr lang="en-GB" sz="900" dirty="0">
                <a:latin typeface="American Typewriter" panose="02090604020004020304" pitchFamily="18" charset="77"/>
              </a:rPr>
              <a:t> updates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security-patches door de </a:t>
            </a:r>
            <a:r>
              <a:rPr lang="en-GB" sz="900" dirty="0" err="1">
                <a:latin typeface="American Typewriter" panose="02090604020004020304" pitchFamily="18" charset="77"/>
              </a:rPr>
              <a:t>leverancier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3"/>
            </a:pPr>
            <a:r>
              <a:rPr lang="en-GB" sz="900" dirty="0" err="1">
                <a:latin typeface="American Typewriter" panose="02090604020004020304" pitchFamily="18" charset="77"/>
              </a:rPr>
              <a:t>Zelfbeheerd</a:t>
            </a:r>
            <a:r>
              <a:rPr lang="en-GB" sz="900" dirty="0">
                <a:latin typeface="American Typewriter" panose="02090604020004020304" pitchFamily="18" charset="77"/>
              </a:rPr>
              <a:t>: de </a:t>
            </a:r>
            <a:r>
              <a:rPr lang="en-GB" sz="900" dirty="0" err="1">
                <a:latin typeface="American Typewriter" panose="02090604020004020304" pitchFamily="18" charset="77"/>
              </a:rPr>
              <a:t>instelling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zelf</a:t>
            </a:r>
            <a:r>
              <a:rPr lang="en-GB" sz="900" dirty="0">
                <a:latin typeface="American Typewriter" panose="02090604020004020304" pitchFamily="18" charset="77"/>
              </a:rPr>
              <a:t> (of via SURF/IT-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) patches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upgrades </a:t>
            </a:r>
            <a:r>
              <a:rPr lang="en-GB" sz="900" dirty="0" err="1">
                <a:latin typeface="American Typewriter" panose="02090604020004020304" pitchFamily="18" charset="77"/>
              </a:rPr>
              <a:t>plannen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uitvoeren</a:t>
            </a:r>
            <a:r>
              <a:rPr lang="en-GB" sz="900" dirty="0">
                <a:latin typeface="American Typewriter" panose="02090604020004020304" pitchFamily="18" charset="77"/>
              </a:rPr>
              <a:t>; </a:t>
            </a:r>
            <a:r>
              <a:rPr lang="en-GB" sz="900" dirty="0" err="1">
                <a:latin typeface="American Typewriter" panose="02090604020004020304" pitchFamily="18" charset="77"/>
              </a:rPr>
              <a:t>dit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vergt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structurele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beheer-capaciteit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3.3 </a:t>
            </a:r>
            <a:r>
              <a:rPr lang="en-GB" sz="900" b="1" dirty="0" err="1">
                <a:latin typeface="American Typewriter" panose="02090604020004020304" pitchFamily="18" charset="77"/>
              </a:rPr>
              <a:t>Beheerlast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organisatie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5"/>
            </a:pP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Geen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 door de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: hosting, </a:t>
            </a:r>
            <a:r>
              <a:rPr lang="en-GB" sz="900" dirty="0" err="1">
                <a:latin typeface="American Typewriter" panose="02090604020004020304" pitchFamily="18" charset="77"/>
              </a:rPr>
              <a:t>schaalbaarheid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patching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verantwoordelijkheid</a:t>
            </a:r>
            <a:r>
              <a:rPr lang="en-GB" sz="900" dirty="0">
                <a:latin typeface="American Typewriter" panose="02090604020004020304" pitchFamily="18" charset="77"/>
              </a:rPr>
              <a:t> van de </a:t>
            </a:r>
            <a:r>
              <a:rPr lang="en-GB" sz="900" dirty="0" err="1">
                <a:latin typeface="American Typewriter" panose="02090604020004020304" pitchFamily="18" charset="77"/>
              </a:rPr>
              <a:t>leverancier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Identity-</a:t>
            </a: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(SSO)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centraal</a:t>
            </a:r>
            <a:r>
              <a:rPr lang="en-GB" sz="900" dirty="0">
                <a:latin typeface="American Typewriter" panose="02090604020004020304" pitchFamily="18" charset="77"/>
              </a:rPr>
              <a:t> door de IT-</a:t>
            </a:r>
            <a:r>
              <a:rPr lang="en-GB" sz="900" dirty="0" err="1">
                <a:latin typeface="American Typewriter" panose="02090604020004020304" pitchFamily="18" charset="77"/>
              </a:rPr>
              <a:t>organisatie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ingericht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 startAt="15"/>
            </a:pP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 err="1">
                <a:latin typeface="American Typewriter" panose="02090604020004020304" pitchFamily="18" charset="77"/>
              </a:rPr>
              <a:t>Vereist</a:t>
            </a:r>
            <a:r>
              <a:rPr lang="en-GB" sz="900" dirty="0">
                <a:latin typeface="American Typewriter" panose="02090604020004020304" pitchFamily="18" charset="77"/>
              </a:rPr>
              <a:t> eigen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 (servers, </a:t>
            </a:r>
            <a:r>
              <a:rPr lang="en-GB" sz="900" dirty="0" err="1">
                <a:latin typeface="American Typewriter" panose="02090604020004020304" pitchFamily="18" charset="77"/>
              </a:rPr>
              <a:t>opslag</a:t>
            </a:r>
            <a:r>
              <a:rPr lang="en-GB" sz="900" dirty="0">
                <a:latin typeface="American Typewriter" panose="02090604020004020304" pitchFamily="18" charset="77"/>
              </a:rPr>
              <a:t>, back-ups, monitoring).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 err="1">
                <a:latin typeface="American Typewriter" panose="02090604020004020304" pitchFamily="18" charset="77"/>
              </a:rPr>
              <a:t>Vereist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minimaal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deel</a:t>
            </a:r>
            <a:r>
              <a:rPr lang="en-GB" sz="900" dirty="0">
                <a:latin typeface="American Typewriter" panose="02090604020004020304" pitchFamily="18" charset="77"/>
              </a:rPr>
              <a:t>-FTE specialist (DevOps / </a:t>
            </a:r>
            <a:r>
              <a:rPr lang="en-GB" sz="900" dirty="0" err="1">
                <a:latin typeface="American Typewriter" panose="02090604020004020304" pitchFamily="18" charset="77"/>
              </a:rPr>
              <a:t>systeembeheer</a:t>
            </a:r>
            <a:r>
              <a:rPr lang="en-GB" sz="900" dirty="0">
                <a:latin typeface="American Typewriter" panose="02090604020004020304" pitchFamily="18" charset="77"/>
              </a:rPr>
              <a:t>)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onderhoud</a:t>
            </a:r>
            <a:r>
              <a:rPr lang="en-GB" sz="900" dirty="0">
                <a:latin typeface="American Typewriter" panose="02090604020004020304" pitchFamily="18" charset="77"/>
              </a:rPr>
              <a:t>, upgrades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incidentafhandeling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5"/>
            </a:pPr>
            <a:r>
              <a:rPr lang="en-GB" sz="900" dirty="0">
                <a:latin typeface="American Typewriter" panose="02090604020004020304" pitchFamily="18" charset="77"/>
              </a:rPr>
              <a:t>Risico’s: </a:t>
            </a:r>
            <a:r>
              <a:rPr lang="en-GB" sz="900" dirty="0" err="1">
                <a:latin typeface="American Typewriter" panose="02090604020004020304" pitchFamily="18" charset="77"/>
              </a:rPr>
              <a:t>achterblijvende</a:t>
            </a:r>
            <a:r>
              <a:rPr lang="en-GB" sz="900" dirty="0">
                <a:latin typeface="American Typewriter" panose="02090604020004020304" pitchFamily="18" charset="77"/>
              </a:rPr>
              <a:t> updates, </a:t>
            </a:r>
            <a:r>
              <a:rPr lang="en-GB" sz="900" dirty="0" err="1">
                <a:latin typeface="American Typewriter" panose="02090604020004020304" pitchFamily="18" charset="77"/>
              </a:rPr>
              <a:t>incidentele</a:t>
            </a:r>
            <a:r>
              <a:rPr lang="en-GB" sz="900" dirty="0">
                <a:latin typeface="American Typewriter" panose="02090604020004020304" pitchFamily="18" charset="77"/>
              </a:rPr>
              <a:t> performance-</a:t>
            </a:r>
            <a:r>
              <a:rPr lang="en-GB" sz="900" dirty="0" err="1">
                <a:latin typeface="American Typewriter" panose="02090604020004020304" pitchFamily="18" charset="77"/>
              </a:rPr>
              <a:t>problemen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tijdelijk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ontbreken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bepaalde</a:t>
            </a:r>
            <a:r>
              <a:rPr lang="en-GB" sz="900" dirty="0">
                <a:latin typeface="American Typewriter" panose="02090604020004020304" pitchFamily="18" charset="77"/>
              </a:rPr>
              <a:t> features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webhostingfunctionaliteit</a:t>
            </a:r>
            <a:r>
              <a:rPr lang="en-GB" sz="900" dirty="0">
                <a:latin typeface="American Typewriter" panose="02090604020004020304" pitchFamily="18" charset="77"/>
              </a:rPr>
              <a:t>) door </a:t>
            </a:r>
            <a:r>
              <a:rPr lang="en-GB" sz="900" dirty="0" err="1">
                <a:latin typeface="American Typewriter" panose="02090604020004020304" pitchFamily="18" charset="77"/>
              </a:rPr>
              <a:t>lokale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3.4 </a:t>
            </a:r>
            <a:r>
              <a:rPr lang="en-GB" sz="900" b="1" dirty="0" err="1">
                <a:latin typeface="American Typewriter" panose="02090604020004020304" pitchFamily="18" charset="77"/>
              </a:rPr>
              <a:t>Schaalbaarheid</a:t>
            </a:r>
            <a:r>
              <a:rPr lang="en-GB" sz="900" b="1" dirty="0">
                <a:latin typeface="American Typewriter" panose="02090604020004020304" pitchFamily="18" charset="77"/>
              </a:rPr>
              <a:t> &amp; </a:t>
            </a:r>
            <a:r>
              <a:rPr lang="en-GB" sz="900" b="1" dirty="0" err="1">
                <a:latin typeface="American Typewriter" panose="02090604020004020304" pitchFamily="18" charset="77"/>
              </a:rPr>
              <a:t>prestaties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Font typeface="+mj-lt"/>
              <a:buAutoNum type="arabicPeriod" startAt="17"/>
            </a:pPr>
            <a:r>
              <a:rPr lang="en-GB" sz="900" b="1" dirty="0" err="1">
                <a:latin typeface="American Typewriter" panose="02090604020004020304" pitchFamily="18" charset="77"/>
              </a:rPr>
              <a:t>Schaalbaar</a:t>
            </a:r>
            <a:r>
              <a:rPr lang="en-GB" sz="900" b="1" dirty="0">
                <a:latin typeface="American Typewriter" panose="02090604020004020304" pitchFamily="18" charset="77"/>
              </a:rPr>
              <a:t> per </a:t>
            </a:r>
            <a:r>
              <a:rPr lang="en-GB" sz="900" b="1" dirty="0" err="1">
                <a:latin typeface="American Typewriter" panose="02090604020004020304" pitchFamily="18" charset="77"/>
              </a:rPr>
              <a:t>faculteit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hogeschoolbreed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 startAt="17"/>
            </a:pPr>
            <a:r>
              <a:rPr lang="en-GB" sz="900" dirty="0">
                <a:latin typeface="American Typewriter" panose="02090604020004020304" pitchFamily="18" charset="77"/>
              </a:rPr>
              <a:t>De </a:t>
            </a:r>
            <a:r>
              <a:rPr lang="en-GB" sz="900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moet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zonder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merkbare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performanceproblemen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kunnen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opschalen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kleine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projectteams</a:t>
            </a:r>
            <a:r>
              <a:rPr lang="en-GB" sz="900" dirty="0">
                <a:latin typeface="American Typewriter" panose="02090604020004020304" pitchFamily="18" charset="77"/>
              </a:rPr>
              <a:t> tot </a:t>
            </a:r>
            <a:r>
              <a:rPr lang="en-GB" sz="900" dirty="0" err="1">
                <a:latin typeface="American Typewriter" panose="02090604020004020304" pitchFamily="18" charset="77"/>
              </a:rPr>
              <a:t>honderden</a:t>
            </a:r>
            <a:r>
              <a:rPr lang="en-GB" sz="900" dirty="0">
                <a:latin typeface="American Typewriter" panose="02090604020004020304" pitchFamily="18" charset="77"/>
              </a:rPr>
              <a:t> of </a:t>
            </a:r>
            <a:r>
              <a:rPr lang="en-GB" sz="900" dirty="0" err="1">
                <a:latin typeface="American Typewriter" panose="02090604020004020304" pitchFamily="18" charset="77"/>
              </a:rPr>
              <a:t>duizenden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gebruikers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 startAt="17"/>
            </a:pPr>
            <a:r>
              <a:rPr lang="en-GB" sz="900" dirty="0" err="1">
                <a:latin typeface="American Typewriter" panose="02090604020004020304" pitchFamily="18" charset="77"/>
              </a:rPr>
              <a:t>Ondersteuning</a:t>
            </a:r>
            <a:r>
              <a:rPr lang="en-GB" sz="900" dirty="0">
                <a:latin typeface="American Typewriter" panose="02090604020004020304" pitchFamily="18" charset="77"/>
              </a:rPr>
              <a:t> van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repositories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dataprojecten</a:t>
            </a:r>
            <a:r>
              <a:rPr lang="en-GB" sz="900" dirty="0">
                <a:latin typeface="American Typewriter" panose="02090604020004020304" pitchFamily="18" charset="77"/>
              </a:rPr>
              <a:t> (</a:t>
            </a:r>
            <a:r>
              <a:rPr lang="en-GB" sz="900" dirty="0" err="1">
                <a:latin typeface="American Typewriter" panose="02090604020004020304" pitchFamily="18" charset="77"/>
              </a:rPr>
              <a:t>bijv</a:t>
            </a:r>
            <a:r>
              <a:rPr lang="en-GB" sz="900" dirty="0">
                <a:latin typeface="American Typewriter" panose="02090604020004020304" pitchFamily="18" charset="77"/>
              </a:rPr>
              <a:t>. </a:t>
            </a:r>
            <a:r>
              <a:rPr lang="en-GB" sz="900" dirty="0" err="1">
                <a:latin typeface="American Typewriter" panose="02090604020004020304" pitchFamily="18" charset="77"/>
              </a:rPr>
              <a:t>monorepo’s</a:t>
            </a:r>
            <a:r>
              <a:rPr lang="en-GB" sz="900" dirty="0">
                <a:latin typeface="American Typewriter" panose="02090604020004020304" pitchFamily="18" charset="77"/>
              </a:rPr>
              <a:t> met data pipelines) is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expliciete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eis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4. </a:t>
            </a:r>
            <a:r>
              <a:rPr lang="en-GB" sz="900" b="1" dirty="0" err="1">
                <a:latin typeface="American Typewriter" panose="02090604020004020304" pitchFamily="18" charset="77"/>
              </a:rPr>
              <a:t>Architectuurkeuze</a:t>
            </a:r>
            <a:r>
              <a:rPr lang="en-GB" sz="900" b="1" dirty="0">
                <a:latin typeface="American Typewriter" panose="02090604020004020304" pitchFamily="18" charset="77"/>
              </a:rPr>
              <a:t>: </a:t>
            </a:r>
            <a:r>
              <a:rPr lang="en-GB" sz="900" b="1" dirty="0" err="1">
                <a:latin typeface="American Typewriter" panose="02090604020004020304" pitchFamily="18" charset="77"/>
              </a:rPr>
              <a:t>cloudgehost</a:t>
            </a:r>
            <a:r>
              <a:rPr lang="en-GB" sz="900" b="1" dirty="0">
                <a:latin typeface="American Typewriter" panose="02090604020004020304" pitchFamily="18" charset="77"/>
              </a:rPr>
              <a:t> vs. </a:t>
            </a:r>
            <a:r>
              <a:rPr lang="en-GB" sz="900" b="1" dirty="0" err="1">
                <a:latin typeface="American Typewriter" panose="02090604020004020304" pitchFamily="18" charset="77"/>
              </a:rPr>
              <a:t>zelfbeheerd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Op basis van </a:t>
            </a:r>
            <a:r>
              <a:rPr lang="en-GB" sz="900" dirty="0" err="1">
                <a:latin typeface="American Typewriter" panose="02090604020004020304" pitchFamily="18" charset="77"/>
              </a:rPr>
              <a:t>bovenstaande</a:t>
            </a:r>
            <a:r>
              <a:rPr lang="en-GB" sz="900" dirty="0">
                <a:latin typeface="American Typewriter" panose="02090604020004020304" pitchFamily="18" charset="77"/>
              </a:rPr>
              <a:t> requirements </a:t>
            </a:r>
            <a:r>
              <a:rPr lang="en-GB" sz="900" dirty="0" err="1">
                <a:latin typeface="American Typewriter" panose="02090604020004020304" pitchFamily="18" charset="77"/>
              </a:rPr>
              <a:t>tekenen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zich</a:t>
            </a:r>
            <a:r>
              <a:rPr lang="en-GB" sz="900" dirty="0">
                <a:latin typeface="American Typewriter" panose="02090604020004020304" pitchFamily="18" charset="77"/>
              </a:rPr>
              <a:t> in </a:t>
            </a:r>
            <a:r>
              <a:rPr lang="en-GB" sz="900" dirty="0" err="1">
                <a:latin typeface="American Typewriter" panose="02090604020004020304" pitchFamily="18" charset="77"/>
              </a:rPr>
              <a:t>grote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lijnen</a:t>
            </a:r>
            <a:r>
              <a:rPr lang="en-GB" sz="900" dirty="0">
                <a:latin typeface="American Typewriter" panose="02090604020004020304" pitchFamily="18" charset="77"/>
              </a:rPr>
              <a:t> twee scenario’s </a:t>
            </a:r>
            <a:r>
              <a:rPr lang="en-GB" sz="900" dirty="0" err="1">
                <a:latin typeface="American Typewriter" panose="02090604020004020304" pitchFamily="18" charset="77"/>
              </a:rPr>
              <a:t>af</a:t>
            </a:r>
            <a:r>
              <a:rPr lang="en-GB" sz="900" dirty="0">
                <a:latin typeface="American Typewriter" panose="02090604020004020304" pitchFamily="18" charset="77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ontwikkel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Minder </a:t>
            </a:r>
            <a:r>
              <a:rPr lang="en-GB" sz="900" dirty="0" err="1">
                <a:latin typeface="American Typewriter" panose="02090604020004020304" pitchFamily="18" charset="77"/>
              </a:rPr>
              <a:t>beheerlast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de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Snelle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toegang</a:t>
            </a:r>
            <a:r>
              <a:rPr lang="en-GB" sz="900" dirty="0">
                <a:latin typeface="American Typewriter" panose="02090604020004020304" pitchFamily="18" charset="77"/>
              </a:rPr>
              <a:t> tot </a:t>
            </a:r>
            <a:r>
              <a:rPr lang="en-GB" sz="900" dirty="0" err="1">
                <a:latin typeface="American Typewriter" panose="02090604020004020304" pitchFamily="18" charset="77"/>
              </a:rPr>
              <a:t>nieuwe</a:t>
            </a:r>
            <a:r>
              <a:rPr lang="en-GB" sz="900" dirty="0">
                <a:latin typeface="American Typewriter" panose="02090604020004020304" pitchFamily="18" charset="77"/>
              </a:rPr>
              <a:t> features.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Vaak </a:t>
            </a:r>
            <a:r>
              <a:rPr lang="en-GB" sz="900" dirty="0" err="1">
                <a:latin typeface="American Typewriter" panose="02090604020004020304" pitchFamily="18" charset="77"/>
              </a:rPr>
              <a:t>meer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kant-en-klare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templates.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Aandachtspunten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Data-</a:t>
            </a:r>
            <a:r>
              <a:rPr lang="en-GB" sz="900" dirty="0" err="1">
                <a:latin typeface="American Typewriter" panose="02090604020004020304" pitchFamily="18" charset="77"/>
              </a:rPr>
              <a:t>residentie</a:t>
            </a:r>
            <a:r>
              <a:rPr lang="en-GB" sz="900" dirty="0">
                <a:latin typeface="American Typewriter" panose="02090604020004020304" pitchFamily="18" charset="77"/>
              </a:rPr>
              <a:t>, privacy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compliance </a:t>
            </a:r>
            <a:r>
              <a:rPr lang="en-GB" sz="900" dirty="0" err="1">
                <a:latin typeface="American Typewriter" panose="02090604020004020304" pitchFamily="18" charset="77"/>
              </a:rPr>
              <a:t>moeten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juridisch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technisch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getoetst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worden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>
                <a:latin typeface="American Typewriter" panose="02090604020004020304" pitchFamily="18" charset="77"/>
              </a:rPr>
              <a:t>Vendor-lock-in </a:t>
            </a:r>
            <a:r>
              <a:rPr lang="en-GB" sz="900" dirty="0" err="1">
                <a:latin typeface="American Typewriter" panose="02090604020004020304" pitchFamily="18" charset="77"/>
              </a:rPr>
              <a:t>mitigeren</a:t>
            </a:r>
            <a:r>
              <a:rPr lang="en-GB" sz="900" dirty="0">
                <a:latin typeface="American Typewriter" panose="02090604020004020304" pitchFamily="18" charset="77"/>
              </a:rPr>
              <a:t> via </a:t>
            </a:r>
            <a:r>
              <a:rPr lang="en-GB" sz="900" dirty="0" err="1">
                <a:latin typeface="American Typewriter" panose="02090604020004020304" pitchFamily="18" charset="77"/>
              </a:rPr>
              <a:t>goede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exportmogelijkheden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b="1" dirty="0">
                <a:latin typeface="American Typewriter" panose="02090604020004020304" pitchFamily="18" charset="77"/>
              </a:rPr>
              <a:t> (on-premise of SURF-</a:t>
            </a:r>
            <a:r>
              <a:rPr lang="en-GB" sz="900" b="1" dirty="0" err="1">
                <a:latin typeface="American Typewriter" panose="02090604020004020304" pitchFamily="18" charset="77"/>
              </a:rPr>
              <a:t>gehoste</a:t>
            </a:r>
            <a:r>
              <a:rPr lang="en-GB" sz="900" b="1" dirty="0">
                <a:latin typeface="American Typewriter" panose="02090604020004020304" pitchFamily="18" charset="77"/>
              </a:rPr>
              <a:t>) 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endParaRPr lang="en-GB" sz="900" dirty="0">
              <a:latin typeface="American Typewriter" panose="02090604020004020304" pitchFamily="18" charset="7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Volledige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controle</a:t>
            </a:r>
            <a:r>
              <a:rPr lang="en-GB" sz="900" dirty="0">
                <a:latin typeface="American Typewriter" panose="02090604020004020304" pitchFamily="18" charset="77"/>
              </a:rPr>
              <a:t> over data-</a:t>
            </a:r>
            <a:r>
              <a:rPr lang="en-GB" sz="900" dirty="0" err="1">
                <a:latin typeface="American Typewriter" panose="02090604020004020304" pitchFamily="18" charset="77"/>
              </a:rPr>
              <a:t>locatie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configuratie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bestaande</a:t>
            </a:r>
            <a:r>
              <a:rPr lang="en-GB" sz="900" dirty="0">
                <a:latin typeface="American Typewriter" panose="02090604020004020304" pitchFamily="18" charset="77"/>
              </a:rPr>
              <a:t> on-premise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Aandachtspunten</a:t>
            </a:r>
            <a:r>
              <a:rPr lang="en-GB" sz="900" dirty="0">
                <a:latin typeface="American Typewriter" panose="02090604020004020304" pitchFamily="18" charset="77"/>
              </a:rPr>
              <a:t>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Hogere</a:t>
            </a:r>
            <a:r>
              <a:rPr lang="en-GB" sz="900" dirty="0">
                <a:latin typeface="American Typewriter" panose="02090604020004020304" pitchFamily="18" charset="77"/>
              </a:rPr>
              <a:t> interne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-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infrastructuurkosten</a:t>
            </a:r>
            <a:r>
              <a:rPr lang="en-GB" sz="900" dirty="0">
                <a:latin typeface="American Typewriter" panose="02090604020004020304" pitchFamily="18" charset="77"/>
              </a:rPr>
              <a:t>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sz="900" dirty="0" err="1">
                <a:latin typeface="American Typewriter" panose="02090604020004020304" pitchFamily="18" charset="77"/>
              </a:rPr>
              <a:t>Grotere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kans</a:t>
            </a:r>
            <a:r>
              <a:rPr lang="en-GB" sz="900" dirty="0">
                <a:latin typeface="American Typewriter" panose="02090604020004020304" pitchFamily="18" charset="77"/>
              </a:rPr>
              <a:t> op </a:t>
            </a:r>
            <a:r>
              <a:rPr lang="en-GB" sz="900" dirty="0" err="1">
                <a:latin typeface="American Typewriter" panose="02090604020004020304" pitchFamily="18" charset="77"/>
              </a:rPr>
              <a:t>achterstand</a:t>
            </a:r>
            <a:r>
              <a:rPr lang="en-GB" sz="900" dirty="0">
                <a:latin typeface="American Typewriter" panose="02090604020004020304" pitchFamily="18" charset="77"/>
              </a:rPr>
              <a:t> in features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updates.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>
                <a:latin typeface="American Typewriter" panose="02090604020004020304" pitchFamily="18" charset="77"/>
              </a:rPr>
              <a:t> </a:t>
            </a:r>
          </a:p>
          <a:p>
            <a:pPr>
              <a:buNone/>
            </a:pPr>
            <a:br>
              <a:rPr lang="en-GB" sz="900" dirty="0">
                <a:latin typeface="American Typewriter" panose="02090604020004020304" pitchFamily="18" charset="77"/>
              </a:rPr>
            </a:br>
            <a:endParaRPr lang="en-GB" sz="900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b="1" dirty="0" err="1">
                <a:latin typeface="American Typewriter" panose="02090604020004020304" pitchFamily="18" charset="77"/>
              </a:rPr>
              <a:t>Samenvattende</a:t>
            </a:r>
            <a:r>
              <a:rPr lang="en-GB" sz="900" b="1" dirty="0">
                <a:latin typeface="American Typewriter" panose="02090604020004020304" pitchFamily="18" charset="77"/>
              </a:rPr>
              <a:t> requirement-</a:t>
            </a:r>
            <a:r>
              <a:rPr lang="en-GB" sz="900" b="1" dirty="0" err="1">
                <a:latin typeface="American Typewriter" panose="02090604020004020304" pitchFamily="18" charset="77"/>
              </a:rPr>
              <a:t>conclusie</a:t>
            </a:r>
            <a:endParaRPr lang="en-GB" sz="900" b="1" dirty="0">
              <a:latin typeface="American Typewriter" panose="02090604020004020304" pitchFamily="18" charset="77"/>
            </a:endParaRP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Voor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hogeschool</a:t>
            </a:r>
            <a:r>
              <a:rPr lang="en-GB" sz="900" dirty="0">
                <a:latin typeface="American Typewriter" panose="02090604020004020304" pitchFamily="18" charset="77"/>
              </a:rPr>
              <a:t> die: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studenten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docenten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laagdrempelig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laten </a:t>
            </a:r>
            <a:r>
              <a:rPr lang="en-GB" sz="900" dirty="0" err="1">
                <a:latin typeface="American Typewriter" panose="02090604020004020304" pitchFamily="18" charset="77"/>
              </a:rPr>
              <a:t>werken</a:t>
            </a:r>
            <a:r>
              <a:rPr lang="en-GB" sz="900" dirty="0">
                <a:latin typeface="American Typewriter" panose="02090604020004020304" pitchFamily="18" charset="77"/>
              </a:rPr>
              <a:t> met </a:t>
            </a:r>
            <a:r>
              <a:rPr lang="en-GB" sz="900" dirty="0" err="1">
                <a:latin typeface="American Typewriter" panose="02090604020004020304" pitchFamily="18" charset="77"/>
              </a:rPr>
              <a:t>versiebeheer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CI/CD,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 err="1">
                <a:latin typeface="American Typewriter" panose="02090604020004020304" pitchFamily="18" charset="77"/>
              </a:rPr>
              <a:t>statische</a:t>
            </a:r>
            <a:r>
              <a:rPr lang="en-GB" sz="900" b="1" dirty="0">
                <a:latin typeface="American Typewriter" panose="02090604020004020304" pitchFamily="18" charset="77"/>
              </a:rPr>
              <a:t> sites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voor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onderwijs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projecten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eenvoudig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publiceren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>
                <a:latin typeface="American Typewriter" panose="02090604020004020304" pitchFamily="18" charset="77"/>
              </a:rPr>
              <a:t>open-science</a:t>
            </a:r>
            <a:r>
              <a:rPr lang="en-GB" sz="900" dirty="0">
                <a:latin typeface="American Typewriter" panose="02090604020004020304" pitchFamily="18" charset="77"/>
              </a:rPr>
              <a:t>-</a:t>
            </a:r>
            <a:r>
              <a:rPr lang="en-GB" sz="900" dirty="0" err="1">
                <a:latin typeface="American Typewriter" panose="02090604020004020304" pitchFamily="18" charset="77"/>
              </a:rPr>
              <a:t>eisen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invullen</a:t>
            </a:r>
            <a:r>
              <a:rPr lang="en-GB" sz="900" dirty="0">
                <a:latin typeface="American Typewriter" panose="02090604020004020304" pitchFamily="18" charset="77"/>
              </a:rPr>
              <a:t> (citable code via DOI),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de interne </a:t>
            </a:r>
            <a:r>
              <a:rPr lang="en-GB" sz="900" dirty="0" err="1">
                <a:latin typeface="American Typewriter" panose="02090604020004020304" pitchFamily="18" charset="77"/>
              </a:rPr>
              <a:t>beheerlast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wil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beperken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None/>
            </a:pPr>
            <a:r>
              <a:rPr lang="en-GB" sz="900" dirty="0">
                <a:latin typeface="American Typewriter" panose="02090604020004020304" pitchFamily="18" charset="77"/>
              </a:rPr>
              <a:t>is in de </a:t>
            </a:r>
            <a:r>
              <a:rPr lang="en-GB" sz="900" dirty="0" err="1">
                <a:latin typeface="American Typewriter" panose="02090604020004020304" pitchFamily="18" charset="77"/>
              </a:rPr>
              <a:t>praktijk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cloudgehoste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ontwikkel</a:t>
            </a:r>
            <a:r>
              <a:rPr lang="en-GB" sz="900" b="1" dirty="0">
                <a:latin typeface="American Typewriter" panose="02090604020004020304" pitchFamily="18" charset="77"/>
              </a:rPr>
              <a:t>- </a:t>
            </a:r>
            <a:r>
              <a:rPr lang="en-GB" sz="900" b="1" dirty="0" err="1">
                <a:latin typeface="American Typewriter" panose="02090604020004020304" pitchFamily="18" charset="77"/>
              </a:rPr>
              <a:t>en</a:t>
            </a:r>
            <a:r>
              <a:rPr lang="en-GB" sz="900" b="1" dirty="0">
                <a:latin typeface="American Typewriter" panose="02090604020004020304" pitchFamily="18" charset="77"/>
              </a:rPr>
              <a:t> CI/CD-</a:t>
            </a:r>
            <a:r>
              <a:rPr lang="en-GB" sz="900" b="1" dirty="0" err="1">
                <a:latin typeface="American Typewriter" panose="02090604020004020304" pitchFamily="18" charset="77"/>
              </a:rPr>
              <a:t>dienst</a:t>
            </a:r>
            <a:r>
              <a:rPr lang="en-GB" sz="900" dirty="0">
                <a:latin typeface="American Typewriter" panose="02090604020004020304" pitchFamily="18" charset="77"/>
              </a:rPr>
              <a:t> met: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sterke</a:t>
            </a:r>
            <a:r>
              <a:rPr lang="en-GB" sz="900" dirty="0">
                <a:latin typeface="American Typewriter" panose="02090604020004020304" pitchFamily="18" charset="77"/>
              </a:rPr>
              <a:t> UI/UX,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rijk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ecosysteem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aan</a:t>
            </a:r>
            <a:r>
              <a:rPr lang="en-GB" sz="900" dirty="0">
                <a:latin typeface="American Typewriter" panose="02090604020004020304" pitchFamily="18" charset="77"/>
              </a:rPr>
              <a:t> CI/CD-</a:t>
            </a:r>
            <a:r>
              <a:rPr lang="en-GB" sz="900" dirty="0" err="1">
                <a:latin typeface="American Typewriter" panose="02090604020004020304" pitchFamily="18" charset="77"/>
              </a:rPr>
              <a:t>acties</a:t>
            </a:r>
            <a:r>
              <a:rPr lang="en-GB" sz="900" dirty="0">
                <a:latin typeface="American Typewriter" panose="02090604020004020304" pitchFamily="18" charset="77"/>
              </a:rPr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</a:t>
            </a:r>
            <a:r>
              <a:rPr lang="en-GB" sz="900" dirty="0">
                <a:latin typeface="American Typewriter" panose="02090604020004020304" pitchFamily="18" charset="77"/>
              </a:rPr>
              <a:t> met DOI-</a:t>
            </a:r>
            <a:r>
              <a:rPr lang="en-GB" sz="900" dirty="0" err="1">
                <a:latin typeface="American Typewriter" panose="02090604020004020304" pitchFamily="18" charset="77"/>
              </a:rPr>
              <a:t>uitgevende</a:t>
            </a:r>
            <a:r>
              <a:rPr lang="en-GB" sz="900" dirty="0">
                <a:latin typeface="American Typewriter" panose="02090604020004020304" pitchFamily="18" charset="77"/>
              </a:rPr>
              <a:t> repositories</a:t>
            </a:r>
          </a:p>
          <a:p>
            <a:pPr>
              <a:buNone/>
            </a:pPr>
            <a:r>
              <a:rPr lang="en-GB" sz="900" dirty="0" err="1">
                <a:latin typeface="American Typewriter" panose="02090604020004020304" pitchFamily="18" charset="77"/>
              </a:rPr>
              <a:t>functioneel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financieel</a:t>
            </a:r>
            <a:r>
              <a:rPr lang="en-GB" sz="900" dirty="0">
                <a:latin typeface="American Typewriter" panose="02090604020004020304" pitchFamily="18" charset="77"/>
              </a:rPr>
              <a:t> het </a:t>
            </a:r>
            <a:r>
              <a:rPr lang="en-GB" sz="900" dirty="0" err="1">
                <a:latin typeface="American Typewriter" panose="02090604020004020304" pitchFamily="18" charset="77"/>
              </a:rPr>
              <a:t>meest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logisch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vertrekpunt</a:t>
            </a:r>
            <a:r>
              <a:rPr lang="en-GB" sz="900" dirty="0">
                <a:latin typeface="American Typewriter" panose="02090604020004020304" pitchFamily="18" charset="77"/>
              </a:rPr>
              <a:t>. Een </a:t>
            </a:r>
            <a:r>
              <a:rPr lang="en-GB" sz="900" b="1" dirty="0" err="1">
                <a:latin typeface="American Typewriter" panose="02090604020004020304" pitchFamily="18" charset="77"/>
              </a:rPr>
              <a:t>zelfbeheerde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oplossing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blijft</a:t>
            </a:r>
            <a:r>
              <a:rPr lang="en-GB" sz="900" dirty="0">
                <a:latin typeface="American Typewriter" panose="02090604020004020304" pitchFamily="18" charset="77"/>
              </a:rPr>
              <a:t> relevant </a:t>
            </a:r>
            <a:r>
              <a:rPr lang="en-GB" sz="900" dirty="0" err="1">
                <a:latin typeface="American Typewriter" panose="02090604020004020304" pitchFamily="18" charset="77"/>
              </a:rPr>
              <a:t>als</a:t>
            </a:r>
            <a:r>
              <a:rPr lang="en-GB" sz="900" dirty="0">
                <a:latin typeface="American Typewriter" panose="02090604020004020304" pitchFamily="18" charset="77"/>
              </a:rPr>
              <a:t> er </a:t>
            </a:r>
            <a:r>
              <a:rPr lang="en-GB" sz="900" b="1" dirty="0" err="1">
                <a:latin typeface="American Typewriter" panose="02090604020004020304" pitchFamily="18" charset="77"/>
              </a:rPr>
              <a:t>harde</a:t>
            </a:r>
            <a:r>
              <a:rPr lang="en-GB" sz="900" b="1" dirty="0">
                <a:latin typeface="American Typewriter" panose="02090604020004020304" pitchFamily="18" charset="77"/>
              </a:rPr>
              <a:t> </a:t>
            </a:r>
            <a:r>
              <a:rPr lang="en-GB" sz="900" b="1" dirty="0" err="1">
                <a:latin typeface="American Typewriter" panose="02090604020004020304" pitchFamily="18" charset="77"/>
              </a:rPr>
              <a:t>eisen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zijn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data-</a:t>
            </a:r>
            <a:r>
              <a:rPr lang="en-GB" sz="900" dirty="0" err="1">
                <a:latin typeface="American Typewriter" panose="02090604020004020304" pitchFamily="18" charset="77"/>
              </a:rPr>
              <a:t>locatie</a:t>
            </a:r>
            <a:r>
              <a:rPr lang="en-GB" sz="900" dirty="0">
                <a:latin typeface="American Typewriter" panose="02090604020004020304" pitchFamily="18" charset="77"/>
              </a:rPr>
              <a:t>, air-gapped </a:t>
            </a:r>
            <a:r>
              <a:rPr lang="en-GB" sz="900" dirty="0" err="1">
                <a:latin typeface="American Typewriter" panose="02090604020004020304" pitchFamily="18" charset="77"/>
              </a:rPr>
              <a:t>omgevingen</a:t>
            </a:r>
            <a:r>
              <a:rPr lang="en-GB" sz="900" dirty="0">
                <a:latin typeface="American Typewriter" panose="02090604020004020304" pitchFamily="18" charset="77"/>
              </a:rPr>
              <a:t> of </a:t>
            </a:r>
            <a:r>
              <a:rPr lang="en-GB" sz="900" dirty="0" err="1">
                <a:latin typeface="American Typewriter" panose="02090604020004020304" pitchFamily="18" charset="77"/>
              </a:rPr>
              <a:t>specifieke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integraties</a:t>
            </a:r>
            <a:r>
              <a:rPr lang="en-GB" sz="900" dirty="0">
                <a:latin typeface="American Typewriter" panose="02090604020004020304" pitchFamily="18" charset="77"/>
              </a:rPr>
              <a:t>, maar </a:t>
            </a:r>
            <a:r>
              <a:rPr lang="en-GB" sz="900" dirty="0" err="1">
                <a:latin typeface="American Typewriter" panose="02090604020004020304" pitchFamily="18" charset="77"/>
              </a:rPr>
              <a:t>vraagt</a:t>
            </a:r>
            <a:r>
              <a:rPr lang="en-GB" sz="900" dirty="0">
                <a:latin typeface="American Typewriter" panose="02090604020004020304" pitchFamily="18" charset="77"/>
              </a:rPr>
              <a:t> om </a:t>
            </a:r>
            <a:r>
              <a:rPr lang="en-GB" sz="900" dirty="0" err="1">
                <a:latin typeface="American Typewriter" panose="02090604020004020304" pitchFamily="18" charset="77"/>
              </a:rPr>
              <a:t>expliciete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keuzes</a:t>
            </a:r>
            <a:r>
              <a:rPr lang="en-GB" sz="900" dirty="0">
                <a:latin typeface="American Typewriter" panose="02090604020004020304" pitchFamily="18" charset="77"/>
              </a:rPr>
              <a:t> </a:t>
            </a:r>
            <a:r>
              <a:rPr lang="en-GB" sz="900" dirty="0" err="1">
                <a:latin typeface="American Typewriter" panose="02090604020004020304" pitchFamily="18" charset="77"/>
              </a:rPr>
              <a:t>rond</a:t>
            </a:r>
            <a:r>
              <a:rPr lang="en-GB" sz="900" dirty="0">
                <a:latin typeface="American Typewriter" panose="02090604020004020304" pitchFamily="18" charset="77"/>
              </a:rPr>
              <a:t> extra </a:t>
            </a:r>
            <a:r>
              <a:rPr lang="en-GB" sz="900" dirty="0" err="1">
                <a:latin typeface="American Typewriter" panose="02090604020004020304" pitchFamily="18" charset="77"/>
              </a:rPr>
              <a:t>infrastructuur</a:t>
            </a:r>
            <a:r>
              <a:rPr lang="en-GB" sz="900" dirty="0">
                <a:latin typeface="American Typewriter" panose="02090604020004020304" pitchFamily="18" charset="77"/>
              </a:rPr>
              <a:t>, </a:t>
            </a:r>
            <a:r>
              <a:rPr lang="en-GB" sz="900" dirty="0" err="1">
                <a:latin typeface="American Typewriter" panose="02090604020004020304" pitchFamily="18" charset="77"/>
              </a:rPr>
              <a:t>beheer</a:t>
            </a:r>
            <a:r>
              <a:rPr lang="en-GB" sz="900" dirty="0">
                <a:latin typeface="American Typewriter" panose="02090604020004020304" pitchFamily="18" charset="77"/>
              </a:rPr>
              <a:t>-FTE’s </a:t>
            </a:r>
            <a:r>
              <a:rPr lang="en-GB" sz="900" dirty="0" err="1">
                <a:latin typeface="American Typewriter" panose="02090604020004020304" pitchFamily="18" charset="77"/>
              </a:rPr>
              <a:t>en</a:t>
            </a:r>
            <a:r>
              <a:rPr lang="en-GB" sz="900" dirty="0">
                <a:latin typeface="American Typewriter" panose="02090604020004020304" pitchFamily="18" charset="77"/>
              </a:rPr>
              <a:t> budget.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576D3-DCB3-6E2D-3891-4D985568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689"/>
          <a:stretch>
            <a:fillRect/>
          </a:stretch>
        </p:blipFill>
        <p:spPr>
          <a:xfrm>
            <a:off x="390691" y="935307"/>
            <a:ext cx="11410617" cy="402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3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3334</TotalTime>
  <Words>3129</Words>
  <Application>Microsoft Macintosh PowerPoint</Application>
  <PresentationFormat>Widescreen</PresentationFormat>
  <Paragraphs>355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American Typewriter</vt:lpstr>
      <vt:lpstr>Aptos</vt:lpstr>
      <vt:lpstr>Aptos Display</vt:lpstr>
      <vt:lpstr>Arial</vt:lpstr>
      <vt:lpstr>fkGrotesk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Frans van der Willigen</dc:creator>
  <cp:lastModifiedBy>Robert Frans van der Willigen</cp:lastModifiedBy>
  <cp:revision>4</cp:revision>
  <dcterms:created xsi:type="dcterms:W3CDTF">2025-12-10T13:05:40Z</dcterms:created>
  <dcterms:modified xsi:type="dcterms:W3CDTF">2025-12-12T20:40:18Z</dcterms:modified>
</cp:coreProperties>
</file>